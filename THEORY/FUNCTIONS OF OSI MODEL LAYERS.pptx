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6" r:id="rId2"/>
    <p:sldId id="307" r:id="rId3"/>
    <p:sldId id="308" r:id="rId4"/>
    <p:sldId id="309" r:id="rId5"/>
    <p:sldId id="310" r:id="rId6"/>
    <p:sldId id="312" r:id="rId7"/>
    <p:sldId id="311" r:id="rId8"/>
    <p:sldId id="313" r:id="rId9"/>
    <p:sldId id="314" r:id="rId10"/>
    <p:sldId id="315" r:id="rId11"/>
    <p:sldId id="316" r:id="rId12"/>
    <p:sldId id="317" r:id="rId13"/>
    <p:sldId id="318" r:id="rId14"/>
    <p:sldId id="319" r:id="rId15"/>
    <p:sldId id="320" r:id="rId16"/>
    <p:sldId id="321" r:id="rId17"/>
    <p:sldId id="322" r:id="rId18"/>
    <p:sldId id="323" r:id="rId19"/>
    <p:sldId id="324" r:id="rId20"/>
    <p:sldId id="32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84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A15DE-ECA7-24F2-9B12-824ACBD72E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2DC96FF-A9F5-634C-DE9F-8C92EEB38A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FDCF58F-0A7F-47BE-CED8-9601CD11046D}"/>
              </a:ext>
            </a:extLst>
          </p:cNvPr>
          <p:cNvSpPr>
            <a:spLocks noGrp="1"/>
          </p:cNvSpPr>
          <p:nvPr>
            <p:ph type="dt" sz="half" idx="10"/>
          </p:nvPr>
        </p:nvSpPr>
        <p:spPr/>
        <p:txBody>
          <a:bodyPr/>
          <a:lstStyle/>
          <a:p>
            <a:fld id="{DF6FBDC7-4D2B-45DA-9EBE-F28FC1F5B87D}" type="datetimeFigureOut">
              <a:rPr lang="en-IN" smtClean="0"/>
              <a:t>10-12-2025</a:t>
            </a:fld>
            <a:endParaRPr lang="en-IN"/>
          </a:p>
        </p:txBody>
      </p:sp>
      <p:sp>
        <p:nvSpPr>
          <p:cNvPr id="5" name="Footer Placeholder 4">
            <a:extLst>
              <a:ext uri="{FF2B5EF4-FFF2-40B4-BE49-F238E27FC236}">
                <a16:creationId xmlns:a16="http://schemas.microsoft.com/office/drawing/2014/main" id="{80E72DA7-A447-BBFC-C927-6A0222F355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D1FDE5-1767-C28A-19D5-6D6A4F649C61}"/>
              </a:ext>
            </a:extLst>
          </p:cNvPr>
          <p:cNvSpPr>
            <a:spLocks noGrp="1"/>
          </p:cNvSpPr>
          <p:nvPr>
            <p:ph type="sldNum" sz="quarter" idx="12"/>
          </p:nvPr>
        </p:nvSpPr>
        <p:spPr/>
        <p:txBody>
          <a:bodyPr/>
          <a:lstStyle/>
          <a:p>
            <a:fld id="{A88512C2-FDD7-45FB-9480-D73BC84C76EB}" type="slidenum">
              <a:rPr lang="en-IN" smtClean="0"/>
              <a:t>‹#›</a:t>
            </a:fld>
            <a:endParaRPr lang="en-IN"/>
          </a:p>
        </p:txBody>
      </p:sp>
    </p:spTree>
    <p:extLst>
      <p:ext uri="{BB962C8B-B14F-4D97-AF65-F5344CB8AC3E}">
        <p14:creationId xmlns:p14="http://schemas.microsoft.com/office/powerpoint/2010/main" val="3736327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49401-0611-56FA-1EFB-A2F1DB64DD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866363-7F4C-23C0-121B-5B15072BD0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19DC61-13CC-21D3-E46D-D1225584117E}"/>
              </a:ext>
            </a:extLst>
          </p:cNvPr>
          <p:cNvSpPr>
            <a:spLocks noGrp="1"/>
          </p:cNvSpPr>
          <p:nvPr>
            <p:ph type="dt" sz="half" idx="10"/>
          </p:nvPr>
        </p:nvSpPr>
        <p:spPr/>
        <p:txBody>
          <a:bodyPr/>
          <a:lstStyle/>
          <a:p>
            <a:fld id="{DF6FBDC7-4D2B-45DA-9EBE-F28FC1F5B87D}" type="datetimeFigureOut">
              <a:rPr lang="en-IN" smtClean="0"/>
              <a:t>10-12-2025</a:t>
            </a:fld>
            <a:endParaRPr lang="en-IN"/>
          </a:p>
        </p:txBody>
      </p:sp>
      <p:sp>
        <p:nvSpPr>
          <p:cNvPr id="5" name="Footer Placeholder 4">
            <a:extLst>
              <a:ext uri="{FF2B5EF4-FFF2-40B4-BE49-F238E27FC236}">
                <a16:creationId xmlns:a16="http://schemas.microsoft.com/office/drawing/2014/main" id="{C6590177-FE21-6F24-F9C3-253497967A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20D118-AB12-EBAF-7039-76862F038A46}"/>
              </a:ext>
            </a:extLst>
          </p:cNvPr>
          <p:cNvSpPr>
            <a:spLocks noGrp="1"/>
          </p:cNvSpPr>
          <p:nvPr>
            <p:ph type="sldNum" sz="quarter" idx="12"/>
          </p:nvPr>
        </p:nvSpPr>
        <p:spPr/>
        <p:txBody>
          <a:bodyPr/>
          <a:lstStyle/>
          <a:p>
            <a:fld id="{A88512C2-FDD7-45FB-9480-D73BC84C76EB}" type="slidenum">
              <a:rPr lang="en-IN" smtClean="0"/>
              <a:t>‹#›</a:t>
            </a:fld>
            <a:endParaRPr lang="en-IN"/>
          </a:p>
        </p:txBody>
      </p:sp>
    </p:spTree>
    <p:extLst>
      <p:ext uri="{BB962C8B-B14F-4D97-AF65-F5344CB8AC3E}">
        <p14:creationId xmlns:p14="http://schemas.microsoft.com/office/powerpoint/2010/main" val="690971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D0149-9DC3-266E-F292-B61DFAFD85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F35C2FB-28FE-0ECA-2BB3-5F9A6C91AD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EEB177-3C91-001C-B46A-10B39F3FBE87}"/>
              </a:ext>
            </a:extLst>
          </p:cNvPr>
          <p:cNvSpPr>
            <a:spLocks noGrp="1"/>
          </p:cNvSpPr>
          <p:nvPr>
            <p:ph type="dt" sz="half" idx="10"/>
          </p:nvPr>
        </p:nvSpPr>
        <p:spPr/>
        <p:txBody>
          <a:bodyPr/>
          <a:lstStyle/>
          <a:p>
            <a:fld id="{DF6FBDC7-4D2B-45DA-9EBE-F28FC1F5B87D}" type="datetimeFigureOut">
              <a:rPr lang="en-IN" smtClean="0"/>
              <a:t>10-12-2025</a:t>
            </a:fld>
            <a:endParaRPr lang="en-IN"/>
          </a:p>
        </p:txBody>
      </p:sp>
      <p:sp>
        <p:nvSpPr>
          <p:cNvPr id="5" name="Footer Placeholder 4">
            <a:extLst>
              <a:ext uri="{FF2B5EF4-FFF2-40B4-BE49-F238E27FC236}">
                <a16:creationId xmlns:a16="http://schemas.microsoft.com/office/drawing/2014/main" id="{81B1E55B-ADE7-FD23-9CFA-D0B2D433D6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1CFDD9-7B98-CDD1-0ADB-EEACD4CF6813}"/>
              </a:ext>
            </a:extLst>
          </p:cNvPr>
          <p:cNvSpPr>
            <a:spLocks noGrp="1"/>
          </p:cNvSpPr>
          <p:nvPr>
            <p:ph type="sldNum" sz="quarter" idx="12"/>
          </p:nvPr>
        </p:nvSpPr>
        <p:spPr/>
        <p:txBody>
          <a:bodyPr/>
          <a:lstStyle/>
          <a:p>
            <a:fld id="{A88512C2-FDD7-45FB-9480-D73BC84C76EB}" type="slidenum">
              <a:rPr lang="en-IN" smtClean="0"/>
              <a:t>‹#›</a:t>
            </a:fld>
            <a:endParaRPr lang="en-IN"/>
          </a:p>
        </p:txBody>
      </p:sp>
    </p:spTree>
    <p:extLst>
      <p:ext uri="{BB962C8B-B14F-4D97-AF65-F5344CB8AC3E}">
        <p14:creationId xmlns:p14="http://schemas.microsoft.com/office/powerpoint/2010/main" val="544063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4B160-3BC5-A863-B1FC-C623408353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EAEA28-CAF7-980B-0759-B7D559FEC11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D4241E4-66D8-9F27-1F60-4A761CD1A4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73A00A-9104-1EF7-A7FC-13FBF8E74D2D}"/>
              </a:ext>
            </a:extLst>
          </p:cNvPr>
          <p:cNvSpPr>
            <a:spLocks noGrp="1"/>
          </p:cNvSpPr>
          <p:nvPr>
            <p:ph type="dt" sz="half" idx="10"/>
          </p:nvPr>
        </p:nvSpPr>
        <p:spPr/>
        <p:txBody>
          <a:bodyPr/>
          <a:lstStyle/>
          <a:p>
            <a:fld id="{DF6FBDC7-4D2B-45DA-9EBE-F28FC1F5B87D}" type="datetimeFigureOut">
              <a:rPr lang="en-IN" smtClean="0"/>
              <a:t>10-12-2025</a:t>
            </a:fld>
            <a:endParaRPr lang="en-IN"/>
          </a:p>
        </p:txBody>
      </p:sp>
      <p:sp>
        <p:nvSpPr>
          <p:cNvPr id="6" name="Footer Placeholder 5">
            <a:extLst>
              <a:ext uri="{FF2B5EF4-FFF2-40B4-BE49-F238E27FC236}">
                <a16:creationId xmlns:a16="http://schemas.microsoft.com/office/drawing/2014/main" id="{591EC382-72D9-E588-5BCC-B11707DA79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5A7B0D-E57B-4A70-8175-49816BA6B5C1}"/>
              </a:ext>
            </a:extLst>
          </p:cNvPr>
          <p:cNvSpPr>
            <a:spLocks noGrp="1"/>
          </p:cNvSpPr>
          <p:nvPr>
            <p:ph type="sldNum" sz="quarter" idx="12"/>
          </p:nvPr>
        </p:nvSpPr>
        <p:spPr/>
        <p:txBody>
          <a:bodyPr/>
          <a:lstStyle/>
          <a:p>
            <a:fld id="{A88512C2-FDD7-45FB-9480-D73BC84C76EB}" type="slidenum">
              <a:rPr lang="en-IN" smtClean="0"/>
              <a:t>‹#›</a:t>
            </a:fld>
            <a:endParaRPr lang="en-IN"/>
          </a:p>
        </p:txBody>
      </p:sp>
    </p:spTree>
    <p:extLst>
      <p:ext uri="{BB962C8B-B14F-4D97-AF65-F5344CB8AC3E}">
        <p14:creationId xmlns:p14="http://schemas.microsoft.com/office/powerpoint/2010/main" val="1641693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5BB4C-61F6-9BB7-C95E-F53D47A9478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7CDA83-01B7-1004-2FB7-089A3707D8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C52E98-760C-9A2B-1F38-E7B26C3B34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75635DC-299C-CF39-4116-D8F1DA9E67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644112-D695-C30F-FD8A-4E77633F23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80B58E7-74D2-DC5F-E20C-8CC8D44F564B}"/>
              </a:ext>
            </a:extLst>
          </p:cNvPr>
          <p:cNvSpPr>
            <a:spLocks noGrp="1"/>
          </p:cNvSpPr>
          <p:nvPr>
            <p:ph type="dt" sz="half" idx="10"/>
          </p:nvPr>
        </p:nvSpPr>
        <p:spPr/>
        <p:txBody>
          <a:bodyPr/>
          <a:lstStyle/>
          <a:p>
            <a:fld id="{DF6FBDC7-4D2B-45DA-9EBE-F28FC1F5B87D}" type="datetimeFigureOut">
              <a:rPr lang="en-IN" smtClean="0"/>
              <a:t>10-12-2025</a:t>
            </a:fld>
            <a:endParaRPr lang="en-IN"/>
          </a:p>
        </p:txBody>
      </p:sp>
      <p:sp>
        <p:nvSpPr>
          <p:cNvPr id="8" name="Footer Placeholder 7">
            <a:extLst>
              <a:ext uri="{FF2B5EF4-FFF2-40B4-BE49-F238E27FC236}">
                <a16:creationId xmlns:a16="http://schemas.microsoft.com/office/drawing/2014/main" id="{E1E17B8F-28CA-72E6-0D58-35385C0954A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0829AA1-ABD0-B26A-5756-C858C54F1C28}"/>
              </a:ext>
            </a:extLst>
          </p:cNvPr>
          <p:cNvSpPr>
            <a:spLocks noGrp="1"/>
          </p:cNvSpPr>
          <p:nvPr>
            <p:ph type="sldNum" sz="quarter" idx="12"/>
          </p:nvPr>
        </p:nvSpPr>
        <p:spPr/>
        <p:txBody>
          <a:bodyPr/>
          <a:lstStyle/>
          <a:p>
            <a:fld id="{A88512C2-FDD7-45FB-9480-D73BC84C76EB}" type="slidenum">
              <a:rPr lang="en-IN" smtClean="0"/>
              <a:t>‹#›</a:t>
            </a:fld>
            <a:endParaRPr lang="en-IN"/>
          </a:p>
        </p:txBody>
      </p:sp>
    </p:spTree>
    <p:extLst>
      <p:ext uri="{BB962C8B-B14F-4D97-AF65-F5344CB8AC3E}">
        <p14:creationId xmlns:p14="http://schemas.microsoft.com/office/powerpoint/2010/main" val="3418897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C04-1F93-1E85-619E-4EC09391AB5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50287EA-5C3C-6DF5-2D48-E3DE0402E2F1}"/>
              </a:ext>
            </a:extLst>
          </p:cNvPr>
          <p:cNvSpPr>
            <a:spLocks noGrp="1"/>
          </p:cNvSpPr>
          <p:nvPr>
            <p:ph type="dt" sz="half" idx="10"/>
          </p:nvPr>
        </p:nvSpPr>
        <p:spPr/>
        <p:txBody>
          <a:bodyPr/>
          <a:lstStyle/>
          <a:p>
            <a:fld id="{DF6FBDC7-4D2B-45DA-9EBE-F28FC1F5B87D}" type="datetimeFigureOut">
              <a:rPr lang="en-IN" smtClean="0"/>
              <a:t>10-12-2025</a:t>
            </a:fld>
            <a:endParaRPr lang="en-IN"/>
          </a:p>
        </p:txBody>
      </p:sp>
      <p:sp>
        <p:nvSpPr>
          <p:cNvPr id="4" name="Footer Placeholder 3">
            <a:extLst>
              <a:ext uri="{FF2B5EF4-FFF2-40B4-BE49-F238E27FC236}">
                <a16:creationId xmlns:a16="http://schemas.microsoft.com/office/drawing/2014/main" id="{A68832C6-4088-F699-9BAD-B63095D0F6D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718B9AB-D3E8-B65C-6C35-8C7537EE1C6E}"/>
              </a:ext>
            </a:extLst>
          </p:cNvPr>
          <p:cNvSpPr>
            <a:spLocks noGrp="1"/>
          </p:cNvSpPr>
          <p:nvPr>
            <p:ph type="sldNum" sz="quarter" idx="12"/>
          </p:nvPr>
        </p:nvSpPr>
        <p:spPr/>
        <p:txBody>
          <a:bodyPr/>
          <a:lstStyle/>
          <a:p>
            <a:fld id="{A88512C2-FDD7-45FB-9480-D73BC84C76EB}" type="slidenum">
              <a:rPr lang="en-IN" smtClean="0"/>
              <a:t>‹#›</a:t>
            </a:fld>
            <a:endParaRPr lang="en-IN"/>
          </a:p>
        </p:txBody>
      </p:sp>
    </p:spTree>
    <p:extLst>
      <p:ext uri="{BB962C8B-B14F-4D97-AF65-F5344CB8AC3E}">
        <p14:creationId xmlns:p14="http://schemas.microsoft.com/office/powerpoint/2010/main" val="683935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ED0A8B-6F1C-A737-BE0A-A5A8781964D6}"/>
              </a:ext>
            </a:extLst>
          </p:cNvPr>
          <p:cNvSpPr>
            <a:spLocks noGrp="1"/>
          </p:cNvSpPr>
          <p:nvPr>
            <p:ph type="dt" sz="half" idx="10"/>
          </p:nvPr>
        </p:nvSpPr>
        <p:spPr/>
        <p:txBody>
          <a:bodyPr/>
          <a:lstStyle/>
          <a:p>
            <a:fld id="{DF6FBDC7-4D2B-45DA-9EBE-F28FC1F5B87D}" type="datetimeFigureOut">
              <a:rPr lang="en-IN" smtClean="0"/>
              <a:t>10-12-2025</a:t>
            </a:fld>
            <a:endParaRPr lang="en-IN"/>
          </a:p>
        </p:txBody>
      </p:sp>
      <p:sp>
        <p:nvSpPr>
          <p:cNvPr id="3" name="Footer Placeholder 2">
            <a:extLst>
              <a:ext uri="{FF2B5EF4-FFF2-40B4-BE49-F238E27FC236}">
                <a16:creationId xmlns:a16="http://schemas.microsoft.com/office/drawing/2014/main" id="{807F8433-056B-35DD-5810-58CE8FADA5D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53A74D1-98C1-2525-1204-9C81730EC9CD}"/>
              </a:ext>
            </a:extLst>
          </p:cNvPr>
          <p:cNvSpPr>
            <a:spLocks noGrp="1"/>
          </p:cNvSpPr>
          <p:nvPr>
            <p:ph type="sldNum" sz="quarter" idx="12"/>
          </p:nvPr>
        </p:nvSpPr>
        <p:spPr/>
        <p:txBody>
          <a:bodyPr/>
          <a:lstStyle/>
          <a:p>
            <a:fld id="{A88512C2-FDD7-45FB-9480-D73BC84C76EB}" type="slidenum">
              <a:rPr lang="en-IN" smtClean="0"/>
              <a:t>‹#›</a:t>
            </a:fld>
            <a:endParaRPr lang="en-IN"/>
          </a:p>
        </p:txBody>
      </p:sp>
    </p:spTree>
    <p:extLst>
      <p:ext uri="{BB962C8B-B14F-4D97-AF65-F5344CB8AC3E}">
        <p14:creationId xmlns:p14="http://schemas.microsoft.com/office/powerpoint/2010/main" val="3644947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EA0ED-ED81-8DFD-34F9-1A6A3A6592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3D2AB46-01D8-12AE-A1E1-29224439DD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357D100-325D-5A56-EABD-CA9BE9C2BF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1BB953-E130-DD12-8534-9A646235F230}"/>
              </a:ext>
            </a:extLst>
          </p:cNvPr>
          <p:cNvSpPr>
            <a:spLocks noGrp="1"/>
          </p:cNvSpPr>
          <p:nvPr>
            <p:ph type="dt" sz="half" idx="10"/>
          </p:nvPr>
        </p:nvSpPr>
        <p:spPr/>
        <p:txBody>
          <a:bodyPr/>
          <a:lstStyle/>
          <a:p>
            <a:fld id="{DF6FBDC7-4D2B-45DA-9EBE-F28FC1F5B87D}" type="datetimeFigureOut">
              <a:rPr lang="en-IN" smtClean="0"/>
              <a:t>10-12-2025</a:t>
            </a:fld>
            <a:endParaRPr lang="en-IN"/>
          </a:p>
        </p:txBody>
      </p:sp>
      <p:sp>
        <p:nvSpPr>
          <p:cNvPr id="6" name="Footer Placeholder 5">
            <a:extLst>
              <a:ext uri="{FF2B5EF4-FFF2-40B4-BE49-F238E27FC236}">
                <a16:creationId xmlns:a16="http://schemas.microsoft.com/office/drawing/2014/main" id="{A0E93B58-4924-D439-6FED-A494EB4CC9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FD94FE-CAA1-2519-9664-E48008EDEDAC}"/>
              </a:ext>
            </a:extLst>
          </p:cNvPr>
          <p:cNvSpPr>
            <a:spLocks noGrp="1"/>
          </p:cNvSpPr>
          <p:nvPr>
            <p:ph type="sldNum" sz="quarter" idx="12"/>
          </p:nvPr>
        </p:nvSpPr>
        <p:spPr/>
        <p:txBody>
          <a:bodyPr/>
          <a:lstStyle/>
          <a:p>
            <a:fld id="{A88512C2-FDD7-45FB-9480-D73BC84C76EB}" type="slidenum">
              <a:rPr lang="en-IN" smtClean="0"/>
              <a:t>‹#›</a:t>
            </a:fld>
            <a:endParaRPr lang="en-IN"/>
          </a:p>
        </p:txBody>
      </p:sp>
    </p:spTree>
    <p:extLst>
      <p:ext uri="{BB962C8B-B14F-4D97-AF65-F5344CB8AC3E}">
        <p14:creationId xmlns:p14="http://schemas.microsoft.com/office/powerpoint/2010/main" val="913852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AD921-2B4D-F9FC-951E-E7DAB7106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7D40D27-BE40-8065-03E5-91F743C475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9094093-DDC7-8425-0D3F-28D1FCD2AF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258438-F0CA-6771-D00D-2C6E6D9EDCB1}"/>
              </a:ext>
            </a:extLst>
          </p:cNvPr>
          <p:cNvSpPr>
            <a:spLocks noGrp="1"/>
          </p:cNvSpPr>
          <p:nvPr>
            <p:ph type="dt" sz="half" idx="10"/>
          </p:nvPr>
        </p:nvSpPr>
        <p:spPr/>
        <p:txBody>
          <a:bodyPr/>
          <a:lstStyle/>
          <a:p>
            <a:fld id="{DF6FBDC7-4D2B-45DA-9EBE-F28FC1F5B87D}" type="datetimeFigureOut">
              <a:rPr lang="en-IN" smtClean="0"/>
              <a:t>10-12-2025</a:t>
            </a:fld>
            <a:endParaRPr lang="en-IN"/>
          </a:p>
        </p:txBody>
      </p:sp>
      <p:sp>
        <p:nvSpPr>
          <p:cNvPr id="6" name="Footer Placeholder 5">
            <a:extLst>
              <a:ext uri="{FF2B5EF4-FFF2-40B4-BE49-F238E27FC236}">
                <a16:creationId xmlns:a16="http://schemas.microsoft.com/office/drawing/2014/main" id="{7BAC0066-4625-BB5E-886F-64906B632E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E90CB91-DA67-95DC-10FE-28E0D237B196}"/>
              </a:ext>
            </a:extLst>
          </p:cNvPr>
          <p:cNvSpPr>
            <a:spLocks noGrp="1"/>
          </p:cNvSpPr>
          <p:nvPr>
            <p:ph type="sldNum" sz="quarter" idx="12"/>
          </p:nvPr>
        </p:nvSpPr>
        <p:spPr/>
        <p:txBody>
          <a:bodyPr/>
          <a:lstStyle/>
          <a:p>
            <a:fld id="{A88512C2-FDD7-45FB-9480-D73BC84C76EB}" type="slidenum">
              <a:rPr lang="en-IN" smtClean="0"/>
              <a:t>‹#›</a:t>
            </a:fld>
            <a:endParaRPr lang="en-IN"/>
          </a:p>
        </p:txBody>
      </p:sp>
    </p:spTree>
    <p:extLst>
      <p:ext uri="{BB962C8B-B14F-4D97-AF65-F5344CB8AC3E}">
        <p14:creationId xmlns:p14="http://schemas.microsoft.com/office/powerpoint/2010/main" val="1494678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41482-62A8-2033-40B4-125C8A9123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57B6DB-6D4A-24C4-3EF4-7DFA03DDA6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4E30A6-39CF-79D7-D228-0FCDEEA08074}"/>
              </a:ext>
            </a:extLst>
          </p:cNvPr>
          <p:cNvSpPr>
            <a:spLocks noGrp="1"/>
          </p:cNvSpPr>
          <p:nvPr>
            <p:ph type="dt" sz="half" idx="10"/>
          </p:nvPr>
        </p:nvSpPr>
        <p:spPr/>
        <p:txBody>
          <a:bodyPr/>
          <a:lstStyle/>
          <a:p>
            <a:fld id="{DF6FBDC7-4D2B-45DA-9EBE-F28FC1F5B87D}" type="datetimeFigureOut">
              <a:rPr lang="en-IN" smtClean="0"/>
              <a:t>10-12-2025</a:t>
            </a:fld>
            <a:endParaRPr lang="en-IN"/>
          </a:p>
        </p:txBody>
      </p:sp>
      <p:sp>
        <p:nvSpPr>
          <p:cNvPr id="5" name="Footer Placeholder 4">
            <a:extLst>
              <a:ext uri="{FF2B5EF4-FFF2-40B4-BE49-F238E27FC236}">
                <a16:creationId xmlns:a16="http://schemas.microsoft.com/office/drawing/2014/main" id="{88B8FE35-D66B-6D57-BF12-852F470553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DBB358-10E3-F6F4-1493-3FAB75B0EDF8}"/>
              </a:ext>
            </a:extLst>
          </p:cNvPr>
          <p:cNvSpPr>
            <a:spLocks noGrp="1"/>
          </p:cNvSpPr>
          <p:nvPr>
            <p:ph type="sldNum" sz="quarter" idx="12"/>
          </p:nvPr>
        </p:nvSpPr>
        <p:spPr/>
        <p:txBody>
          <a:bodyPr/>
          <a:lstStyle/>
          <a:p>
            <a:fld id="{A88512C2-FDD7-45FB-9480-D73BC84C76EB}" type="slidenum">
              <a:rPr lang="en-IN" smtClean="0"/>
              <a:t>‹#›</a:t>
            </a:fld>
            <a:endParaRPr lang="en-IN"/>
          </a:p>
        </p:txBody>
      </p:sp>
    </p:spTree>
    <p:extLst>
      <p:ext uri="{BB962C8B-B14F-4D97-AF65-F5344CB8AC3E}">
        <p14:creationId xmlns:p14="http://schemas.microsoft.com/office/powerpoint/2010/main" val="1373040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A6006E-3531-B171-BCCF-DA66DF7C1D2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8DE325-79AA-1C78-F7B0-12349BAFA2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E9A08B-86C3-9389-EDF4-55656817E449}"/>
              </a:ext>
            </a:extLst>
          </p:cNvPr>
          <p:cNvSpPr>
            <a:spLocks noGrp="1"/>
          </p:cNvSpPr>
          <p:nvPr>
            <p:ph type="dt" sz="half" idx="10"/>
          </p:nvPr>
        </p:nvSpPr>
        <p:spPr/>
        <p:txBody>
          <a:bodyPr/>
          <a:lstStyle/>
          <a:p>
            <a:fld id="{DF6FBDC7-4D2B-45DA-9EBE-F28FC1F5B87D}" type="datetimeFigureOut">
              <a:rPr lang="en-IN" smtClean="0"/>
              <a:t>10-12-2025</a:t>
            </a:fld>
            <a:endParaRPr lang="en-IN"/>
          </a:p>
        </p:txBody>
      </p:sp>
      <p:sp>
        <p:nvSpPr>
          <p:cNvPr id="5" name="Footer Placeholder 4">
            <a:extLst>
              <a:ext uri="{FF2B5EF4-FFF2-40B4-BE49-F238E27FC236}">
                <a16:creationId xmlns:a16="http://schemas.microsoft.com/office/drawing/2014/main" id="{6FCA7BAB-E5CE-D03A-6501-5458B44C04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881D06-F585-64B4-ABF9-EF10AF0722F4}"/>
              </a:ext>
            </a:extLst>
          </p:cNvPr>
          <p:cNvSpPr>
            <a:spLocks noGrp="1"/>
          </p:cNvSpPr>
          <p:nvPr>
            <p:ph type="sldNum" sz="quarter" idx="12"/>
          </p:nvPr>
        </p:nvSpPr>
        <p:spPr/>
        <p:txBody>
          <a:bodyPr/>
          <a:lstStyle/>
          <a:p>
            <a:fld id="{A88512C2-FDD7-45FB-9480-D73BC84C76EB}" type="slidenum">
              <a:rPr lang="en-IN" smtClean="0"/>
              <a:t>‹#›</a:t>
            </a:fld>
            <a:endParaRPr lang="en-IN"/>
          </a:p>
        </p:txBody>
      </p:sp>
    </p:spTree>
    <p:extLst>
      <p:ext uri="{BB962C8B-B14F-4D97-AF65-F5344CB8AC3E}">
        <p14:creationId xmlns:p14="http://schemas.microsoft.com/office/powerpoint/2010/main" val="2046106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C8F529-08F7-AD49-D009-53BC9E9674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887D5B-AC32-458D-61AD-4BB45D1A5A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81F0AF-01C3-EC29-F194-DD83C51E15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6FBDC7-4D2B-45DA-9EBE-F28FC1F5B87D}" type="datetimeFigureOut">
              <a:rPr lang="en-IN" smtClean="0"/>
              <a:t>10-12-2025</a:t>
            </a:fld>
            <a:endParaRPr lang="en-IN"/>
          </a:p>
        </p:txBody>
      </p:sp>
      <p:sp>
        <p:nvSpPr>
          <p:cNvPr id="5" name="Footer Placeholder 4">
            <a:extLst>
              <a:ext uri="{FF2B5EF4-FFF2-40B4-BE49-F238E27FC236}">
                <a16:creationId xmlns:a16="http://schemas.microsoft.com/office/drawing/2014/main" id="{797AB597-2FC3-1ACB-A53A-1A3FC5928B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B9623B8-4337-4C86-D20F-D0E9819241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8512C2-FDD7-45FB-9480-D73BC84C76EB}" type="slidenum">
              <a:rPr lang="en-IN" smtClean="0"/>
              <a:t>‹#›</a:t>
            </a:fld>
            <a:endParaRPr lang="en-IN"/>
          </a:p>
        </p:txBody>
      </p:sp>
    </p:spTree>
    <p:extLst>
      <p:ext uri="{BB962C8B-B14F-4D97-AF65-F5344CB8AC3E}">
        <p14:creationId xmlns:p14="http://schemas.microsoft.com/office/powerpoint/2010/main" val="20388077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7E99D21-30EE-4DEB-BAD1-7730D87E38EF}"/>
              </a:ext>
            </a:extLst>
          </p:cNvPr>
          <p:cNvSpPr txBox="1"/>
          <p:nvPr/>
        </p:nvSpPr>
        <p:spPr>
          <a:xfrm>
            <a:off x="314131" y="498615"/>
            <a:ext cx="2923592" cy="400110"/>
          </a:xfrm>
          <a:prstGeom prst="rect">
            <a:avLst/>
          </a:prstGeom>
          <a:noFill/>
        </p:spPr>
        <p:txBody>
          <a:bodyPr wrap="square">
            <a:spAutoFit/>
          </a:bodyPr>
          <a:lstStyle/>
          <a:p>
            <a:r>
              <a:rPr lang="en-US" sz="2000" b="1" u="sng" dirty="0">
                <a:effectLst>
                  <a:outerShdw blurRad="38100" dist="38100" dir="2700000" algn="tl">
                    <a:srgbClr val="000000">
                      <a:alpha val="43137"/>
                    </a:srgbClr>
                  </a:outerShdw>
                </a:effectLst>
                <a:latin typeface="Times New Roman" panose="02020603050405020304" pitchFamily="18" charset="0"/>
              </a:rPr>
              <a:t>Layers in the OSI Model</a:t>
            </a:r>
            <a:endParaRPr lang="en-IN" sz="2000" b="1" u="sng" dirty="0">
              <a:effectLst>
                <a:outerShdw blurRad="38100" dist="38100" dir="2700000" algn="tl">
                  <a:srgbClr val="000000">
                    <a:alpha val="43137"/>
                  </a:srgbClr>
                </a:outerShdw>
              </a:effectLst>
            </a:endParaRPr>
          </a:p>
        </p:txBody>
      </p:sp>
      <p:sp>
        <p:nvSpPr>
          <p:cNvPr id="2" name="TextBox 1">
            <a:extLst>
              <a:ext uri="{FF2B5EF4-FFF2-40B4-BE49-F238E27FC236}">
                <a16:creationId xmlns:a16="http://schemas.microsoft.com/office/drawing/2014/main" id="{C2F7E4E0-3097-4385-A4A2-1D947151FA36}"/>
              </a:ext>
            </a:extLst>
          </p:cNvPr>
          <p:cNvSpPr txBox="1"/>
          <p:nvPr/>
        </p:nvSpPr>
        <p:spPr>
          <a:xfrm>
            <a:off x="419878" y="1007706"/>
            <a:ext cx="7016620" cy="369332"/>
          </a:xfrm>
          <a:prstGeom prst="rect">
            <a:avLst/>
          </a:prstGeom>
          <a:noFill/>
        </p:spPr>
        <p:txBody>
          <a:bodyPr wrap="square" rtlCol="0">
            <a:spAutoFit/>
          </a:bodyPr>
          <a:lstStyle/>
          <a:p>
            <a:r>
              <a:rPr lang="en-US"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 this section we describe the functions of each layer in the OSI model:</a:t>
            </a:r>
          </a:p>
        </p:txBody>
      </p:sp>
      <p:sp>
        <p:nvSpPr>
          <p:cNvPr id="6" name="TextBox 5">
            <a:extLst>
              <a:ext uri="{FF2B5EF4-FFF2-40B4-BE49-F238E27FC236}">
                <a16:creationId xmlns:a16="http://schemas.microsoft.com/office/drawing/2014/main" id="{0C8C148B-F643-4F9A-9FA0-D3F111EDC3A5}"/>
              </a:ext>
            </a:extLst>
          </p:cNvPr>
          <p:cNvSpPr txBox="1"/>
          <p:nvPr/>
        </p:nvSpPr>
        <p:spPr>
          <a:xfrm>
            <a:off x="5219701" y="1516797"/>
            <a:ext cx="1791768"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Physical Layer</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34FDB8C-028D-4154-89A2-8EA9A450D240}"/>
              </a:ext>
            </a:extLst>
          </p:cNvPr>
          <p:cNvSpPr txBox="1"/>
          <p:nvPr/>
        </p:nvSpPr>
        <p:spPr>
          <a:xfrm>
            <a:off x="314131" y="1886131"/>
            <a:ext cx="11611169" cy="2031325"/>
          </a:xfrm>
          <a:prstGeom prst="rect">
            <a:avLst/>
          </a:prstGeom>
          <a:noFill/>
        </p:spPr>
        <p:txBody>
          <a:bodyPr wrap="square">
            <a:spAutoFit/>
          </a:bodyPr>
          <a:lstStyle/>
          <a:p>
            <a:pPr marL="342900" indent="-342900" algn="just">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The lowest layer of the OSI reference model is the physical layer. </a:t>
            </a:r>
          </a:p>
          <a:p>
            <a:pPr marL="342900" indent="-342900" algn="just">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It is responsible for the actual physical connection between the devices. </a:t>
            </a:r>
          </a:p>
          <a:p>
            <a:pPr marL="342900" indent="-342900" algn="just">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The physical layer contains information in the form of</a:t>
            </a:r>
            <a:r>
              <a:rPr lang="en-US" b="1" dirty="0">
                <a:solidFill>
                  <a:srgbClr val="273239"/>
                </a:solidFill>
                <a:latin typeface="Times New Roman" panose="02020603050405020304" pitchFamily="18" charset="0"/>
                <a:cs typeface="Times New Roman" panose="02020603050405020304" pitchFamily="18" charset="0"/>
              </a:rPr>
              <a:t> bits.</a:t>
            </a:r>
            <a:r>
              <a:rPr lang="en-US" dirty="0">
                <a:solidFill>
                  <a:srgbClr val="273239"/>
                </a:solidFill>
                <a:latin typeface="Times New Roman" panose="02020603050405020304" pitchFamily="18" charset="0"/>
                <a:cs typeface="Times New Roman" panose="02020603050405020304" pitchFamily="18" charset="0"/>
              </a:rPr>
              <a:t> </a:t>
            </a:r>
          </a:p>
          <a:p>
            <a:pPr marL="342900" indent="-342900" algn="just">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It is responsible for transmitting individual bits from one node to the next. </a:t>
            </a:r>
          </a:p>
          <a:p>
            <a:pPr marL="342900" indent="-342900">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When receiving data, this layer will get the signal received and convert it into 0s and 1s and send them to the Data Link layer, which will put the frame back together.</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9" name="Picture 10">
            <a:extLst>
              <a:ext uri="{FF2B5EF4-FFF2-40B4-BE49-F238E27FC236}">
                <a16:creationId xmlns:a16="http://schemas.microsoft.com/office/drawing/2014/main" id="{8E4F21DD-07CC-4F08-856B-FDA59237FC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2865" y="4108072"/>
            <a:ext cx="6650037" cy="2393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26A33880-524F-484C-BBEE-6508675895DE}"/>
              </a:ext>
            </a:extLst>
          </p:cNvPr>
          <p:cNvSpPr txBox="1"/>
          <p:nvPr/>
        </p:nvSpPr>
        <p:spPr>
          <a:xfrm>
            <a:off x="657225" y="4926964"/>
            <a:ext cx="3695700" cy="923330"/>
          </a:xfrm>
          <a:prstGeom prst="rect">
            <a:avLst/>
          </a:prstGeom>
          <a:noFill/>
        </p:spPr>
        <p:txBody>
          <a:bodyPr wrap="square" rtlCol="0">
            <a:spAutoFit/>
          </a:bodyPr>
          <a:lstStyle/>
          <a:p>
            <a:pPr algn="just"/>
            <a:r>
              <a:rPr lang="en-US" i="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Physical layer is responsible for movements of individual bits from one hop(</a:t>
            </a:r>
            <a:r>
              <a:rPr lang="en-US"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node</a:t>
            </a:r>
            <a:r>
              <a:rPr lang="en-US" i="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to the next</a:t>
            </a:r>
            <a:endParaRPr lang="en-IN" i="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1" name="&quot;Not Allowed&quot; Symbol 10">
            <a:extLst>
              <a:ext uri="{FF2B5EF4-FFF2-40B4-BE49-F238E27FC236}">
                <a16:creationId xmlns:a16="http://schemas.microsoft.com/office/drawing/2014/main" id="{B956E0AF-5EA4-4EAA-AD86-838DC279CA47}"/>
              </a:ext>
            </a:extLst>
          </p:cNvPr>
          <p:cNvSpPr/>
          <p:nvPr/>
        </p:nvSpPr>
        <p:spPr>
          <a:xfrm>
            <a:off x="-1485900" y="4991220"/>
            <a:ext cx="619125" cy="580907"/>
          </a:xfrm>
          <a:prstGeom prst="noSmoking">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dirty="0">
              <a:solidFill>
                <a:schemeClr val="tx1"/>
              </a:solidFill>
            </a:endParaRPr>
          </a:p>
        </p:txBody>
      </p:sp>
      <p:pic>
        <p:nvPicPr>
          <p:cNvPr id="7" name="Picture 6">
            <a:extLst>
              <a:ext uri="{FF2B5EF4-FFF2-40B4-BE49-F238E27FC236}">
                <a16:creationId xmlns:a16="http://schemas.microsoft.com/office/drawing/2014/main" id="{EAD8441E-2364-4B15-8CC8-BFB67F62D2F1}"/>
              </a:ext>
            </a:extLst>
          </p:cNvPr>
          <p:cNvPicPr>
            <a:picLocks noChangeAspect="1"/>
          </p:cNvPicPr>
          <p:nvPr/>
        </p:nvPicPr>
        <p:blipFill>
          <a:blip r:embed="rId3"/>
          <a:stretch>
            <a:fillRect/>
          </a:stretch>
        </p:blipFill>
        <p:spPr>
          <a:xfrm>
            <a:off x="7764511" y="590841"/>
            <a:ext cx="4113358" cy="2209340"/>
          </a:xfrm>
          <a:prstGeom prst="rect">
            <a:avLst/>
          </a:prstGeom>
        </p:spPr>
      </p:pic>
    </p:spTree>
    <p:extLst>
      <p:ext uri="{BB962C8B-B14F-4D97-AF65-F5344CB8AC3E}">
        <p14:creationId xmlns:p14="http://schemas.microsoft.com/office/powerpoint/2010/main" val="3974296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C8C148B-F643-4F9A-9FA0-D3F111EDC3A5}"/>
              </a:ext>
            </a:extLst>
          </p:cNvPr>
          <p:cNvSpPr txBox="1"/>
          <p:nvPr/>
        </p:nvSpPr>
        <p:spPr>
          <a:xfrm>
            <a:off x="561975" y="498615"/>
            <a:ext cx="1791768"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Physical Layer</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085EC4B-A0B2-468C-9146-1C39214B4908}"/>
              </a:ext>
            </a:extLst>
          </p:cNvPr>
          <p:cNvSpPr txBox="1"/>
          <p:nvPr/>
        </p:nvSpPr>
        <p:spPr>
          <a:xfrm>
            <a:off x="561976" y="1087022"/>
            <a:ext cx="11172825" cy="4162934"/>
          </a:xfrm>
          <a:prstGeom prst="rect">
            <a:avLst/>
          </a:prstGeom>
          <a:noFill/>
        </p:spPr>
        <p:txBody>
          <a:bodyPr wrap="square">
            <a:spAutoFit/>
          </a:bodyPr>
          <a:lstStyle/>
          <a:p>
            <a:pPr algn="just"/>
            <a:r>
              <a:rPr lang="en-US" dirty="0">
                <a:solidFill>
                  <a:srgbClr val="273239"/>
                </a:solidFill>
                <a:latin typeface="Times New Roman" panose="02020603050405020304" pitchFamily="18" charset="0"/>
                <a:cs typeface="Times New Roman" panose="02020603050405020304" pitchFamily="18" charset="0"/>
              </a:rPr>
              <a:t>The functions of the physical layer are:</a:t>
            </a:r>
          </a:p>
          <a:p>
            <a:pPr marL="342900" indent="-342900" algn="just">
              <a:lnSpc>
                <a:spcPct val="200000"/>
              </a:lnSpc>
              <a:buFont typeface="+mj-lt"/>
              <a:buAutoNum type="arabicPeriod"/>
            </a:pP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Physical characteristics of interfaces and medium</a:t>
            </a:r>
          </a:p>
          <a:p>
            <a:pPr marL="342900" indent="-342900" algn="just">
              <a:lnSpc>
                <a:spcPct val="200000"/>
              </a:lnSpc>
              <a:buFont typeface="+mj-lt"/>
              <a:buAutoNum type="arabicPeriod"/>
            </a:pPr>
            <a:r>
              <a:rPr lang="en-US" dirty="0">
                <a:solidFill>
                  <a:srgbClr val="27323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Representation of bits</a:t>
            </a:r>
          </a:p>
          <a:p>
            <a:pPr marL="342900" indent="-342900" algn="just">
              <a:lnSpc>
                <a:spcPct val="200000"/>
              </a:lnSpc>
              <a:buFont typeface="+mj-lt"/>
              <a:buAutoNum type="arabicPeriod"/>
            </a:pPr>
            <a:r>
              <a:rPr lang="en-US" dirty="0">
                <a:solidFill>
                  <a:srgbClr val="27323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Synchronization of bits </a:t>
            </a:r>
          </a:p>
          <a:p>
            <a:pPr marL="342900" indent="-342900" algn="just">
              <a:lnSpc>
                <a:spcPct val="200000"/>
              </a:lnSpc>
              <a:buFont typeface="+mj-lt"/>
              <a:buAutoNum type="arabicPeriod"/>
            </a:pPr>
            <a:r>
              <a:rPr lang="en-US" dirty="0">
                <a:solidFill>
                  <a:srgbClr val="27323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Line configuration </a:t>
            </a:r>
          </a:p>
          <a:p>
            <a:pPr marL="342900" indent="-342900" algn="just">
              <a:lnSpc>
                <a:spcPct val="200000"/>
              </a:lnSpc>
              <a:buFont typeface="+mj-lt"/>
              <a:buAutoNum type="arabicPeriod"/>
            </a:pPr>
            <a:r>
              <a:rPr lang="en-US" dirty="0">
                <a:solidFill>
                  <a:srgbClr val="27323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Physical topology</a:t>
            </a:r>
          </a:p>
          <a:p>
            <a:pPr marL="342900" indent="-342900" algn="just">
              <a:lnSpc>
                <a:spcPct val="200000"/>
              </a:lnSpc>
              <a:buFont typeface="+mj-lt"/>
              <a:buAutoNum type="arabicPeriod"/>
            </a:pPr>
            <a:r>
              <a:rPr lang="en-US" dirty="0">
                <a:solidFill>
                  <a:srgbClr val="27323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Transmission mode</a:t>
            </a:r>
          </a:p>
          <a:p>
            <a:pPr algn="just">
              <a:lnSpc>
                <a:spcPct val="200000"/>
              </a:lnSpc>
            </a:pPr>
            <a:r>
              <a:rPr lang="en-US" dirty="0">
                <a:solidFill>
                  <a:srgbClr val="273239"/>
                </a:solidFill>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F8263F0-0FBF-4568-9F9B-BBCBBD99AC95}"/>
              </a:ext>
            </a:extLst>
          </p:cNvPr>
          <p:cNvSpPr txBox="1"/>
          <p:nvPr/>
        </p:nvSpPr>
        <p:spPr>
          <a:xfrm>
            <a:off x="1482206" y="5884816"/>
            <a:ext cx="9429750" cy="523220"/>
          </a:xfrm>
          <a:prstGeom prst="rect">
            <a:avLst/>
          </a:prstGeom>
          <a:noFill/>
        </p:spPr>
        <p:txBody>
          <a:bodyPr wrap="square">
            <a:spAutoFit/>
          </a:bodyPr>
          <a:lstStyle/>
          <a:p>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Hub, Repeater, Modem, Cables </a:t>
            </a:r>
            <a:r>
              <a:rPr lang="en-US"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are Physical Layer devices.</a:t>
            </a:r>
            <a:endParaRPr lang="en-IN"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4608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C8C148B-F643-4F9A-9FA0-D3F111EDC3A5}"/>
              </a:ext>
            </a:extLst>
          </p:cNvPr>
          <p:cNvSpPr txBox="1"/>
          <p:nvPr/>
        </p:nvSpPr>
        <p:spPr>
          <a:xfrm>
            <a:off x="561974" y="498615"/>
            <a:ext cx="2000833"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Link Layer</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99A5069-63FA-4B91-BE44-E05D096B9993}"/>
              </a:ext>
            </a:extLst>
          </p:cNvPr>
          <p:cNvSpPr txBox="1"/>
          <p:nvPr/>
        </p:nvSpPr>
        <p:spPr>
          <a:xfrm>
            <a:off x="561974" y="952411"/>
            <a:ext cx="5213676" cy="1754326"/>
          </a:xfrm>
          <a:prstGeom prst="rect">
            <a:avLst/>
          </a:prstGeom>
          <a:noFill/>
        </p:spPr>
        <p:txBody>
          <a:bodyPr wrap="square">
            <a:spAutoFit/>
          </a:bodyPr>
          <a:lstStyle/>
          <a:p>
            <a:pPr marL="342900" indent="-342900" algn="just">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The data link layer is responsible for the node to node delivery of the message. </a:t>
            </a:r>
          </a:p>
          <a:p>
            <a:pPr marL="342900" indent="-342900" algn="just">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The main function of this layer is to make sure data transfer is error-free from one node to another, over the physical layer.</a:t>
            </a:r>
          </a:p>
          <a:p>
            <a:pPr algn="just"/>
            <a:endParaRPr lang="en-IN" dirty="0">
              <a:latin typeface="Times New Roman" panose="02020603050405020304" pitchFamily="18" charset="0"/>
              <a:cs typeface="Times New Roman" panose="02020603050405020304" pitchFamily="18" charset="0"/>
            </a:endParaRPr>
          </a:p>
        </p:txBody>
      </p:sp>
      <p:pic>
        <p:nvPicPr>
          <p:cNvPr id="8" name="Picture 10">
            <a:extLst>
              <a:ext uri="{FF2B5EF4-FFF2-40B4-BE49-F238E27FC236}">
                <a16:creationId xmlns:a16="http://schemas.microsoft.com/office/drawing/2014/main" id="{8C58744C-9A37-4E42-A891-FB8D2E91AF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744" y="3034909"/>
            <a:ext cx="9072076" cy="2542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E8EEE97F-1B1B-409C-815E-E380E449B122}"/>
              </a:ext>
            </a:extLst>
          </p:cNvPr>
          <p:cNvSpPr txBox="1"/>
          <p:nvPr/>
        </p:nvSpPr>
        <p:spPr>
          <a:xfrm>
            <a:off x="904485" y="5905591"/>
            <a:ext cx="6065484" cy="646331"/>
          </a:xfrm>
          <a:prstGeom prst="rect">
            <a:avLst/>
          </a:prstGeom>
          <a:noFill/>
        </p:spPr>
        <p:txBody>
          <a:bodyPr wrap="square">
            <a:spAutoFit/>
          </a:bodyPr>
          <a:lstStyle/>
          <a:p>
            <a:pPr>
              <a:spcBef>
                <a:spcPts val="1200"/>
              </a:spcBef>
              <a:spcAft>
                <a:spcPts val="1000"/>
              </a:spcAft>
            </a:pPr>
            <a:r>
              <a:rPr lang="en-US" altLang="en-US" i="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data link layer is responsible for transmitting frames from </a:t>
            </a:r>
            <a:br>
              <a:rPr lang="en-US" altLang="en-US" i="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altLang="en-US" i="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one hop (</a:t>
            </a:r>
            <a:r>
              <a:rPr lang="en-US" alt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node)</a:t>
            </a:r>
            <a:r>
              <a:rPr lang="en-US" altLang="en-US" i="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to the next.</a:t>
            </a:r>
          </a:p>
        </p:txBody>
      </p:sp>
      <p:sp>
        <p:nvSpPr>
          <p:cNvPr id="11" name="&quot;Not Allowed&quot; Symbol 10">
            <a:extLst>
              <a:ext uri="{FF2B5EF4-FFF2-40B4-BE49-F238E27FC236}">
                <a16:creationId xmlns:a16="http://schemas.microsoft.com/office/drawing/2014/main" id="{76008C71-4DD8-4B14-A7AF-0E3BA5352F05}"/>
              </a:ext>
            </a:extLst>
          </p:cNvPr>
          <p:cNvSpPr/>
          <p:nvPr/>
        </p:nvSpPr>
        <p:spPr>
          <a:xfrm>
            <a:off x="-1362075" y="5905591"/>
            <a:ext cx="619125" cy="580907"/>
          </a:xfrm>
          <a:prstGeom prst="noSmoking">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dirty="0">
              <a:solidFill>
                <a:schemeClr val="tx1"/>
              </a:solidFill>
            </a:endParaRPr>
          </a:p>
        </p:txBody>
      </p:sp>
      <p:pic>
        <p:nvPicPr>
          <p:cNvPr id="10" name="Picture 9">
            <a:extLst>
              <a:ext uri="{FF2B5EF4-FFF2-40B4-BE49-F238E27FC236}">
                <a16:creationId xmlns:a16="http://schemas.microsoft.com/office/drawing/2014/main" id="{0E95C37B-3C0B-4DD0-8580-FE1632475898}"/>
              </a:ext>
            </a:extLst>
          </p:cNvPr>
          <p:cNvPicPr>
            <a:picLocks noChangeAspect="1"/>
          </p:cNvPicPr>
          <p:nvPr/>
        </p:nvPicPr>
        <p:blipFill>
          <a:blip r:embed="rId3"/>
          <a:stretch>
            <a:fillRect/>
          </a:stretch>
        </p:blipFill>
        <p:spPr>
          <a:xfrm>
            <a:off x="7839156" y="590841"/>
            <a:ext cx="4113358" cy="2209340"/>
          </a:xfrm>
          <a:prstGeom prst="rect">
            <a:avLst/>
          </a:prstGeom>
        </p:spPr>
      </p:pic>
    </p:spTree>
    <p:extLst>
      <p:ext uri="{BB962C8B-B14F-4D97-AF65-F5344CB8AC3E}">
        <p14:creationId xmlns:p14="http://schemas.microsoft.com/office/powerpoint/2010/main" val="4163226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160085D-165E-4DE1-8860-96E020603DD4}"/>
              </a:ext>
            </a:extLst>
          </p:cNvPr>
          <p:cNvSpPr txBox="1"/>
          <p:nvPr/>
        </p:nvSpPr>
        <p:spPr>
          <a:xfrm>
            <a:off x="561973" y="982249"/>
            <a:ext cx="6096000" cy="3054939"/>
          </a:xfrm>
          <a:prstGeom prst="rect">
            <a:avLst/>
          </a:prstGeom>
          <a:noFill/>
        </p:spPr>
        <p:txBody>
          <a:bodyPr wrap="square">
            <a:spAutoFit/>
          </a:bodyPr>
          <a:lstStyle/>
          <a:p>
            <a:pPr algn="just"/>
            <a:r>
              <a:rPr lang="en-US" dirty="0">
                <a:solidFill>
                  <a:srgbClr val="27323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functions of the data link layer are:</a:t>
            </a:r>
          </a:p>
          <a:p>
            <a:pPr marL="342900" indent="-342900" algn="just">
              <a:lnSpc>
                <a:spcPct val="200000"/>
              </a:lnSpc>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Framing</a:t>
            </a:r>
          </a:p>
          <a:p>
            <a:pPr marL="342900" indent="-342900" algn="just">
              <a:lnSpc>
                <a:spcPct val="200000"/>
              </a:lnSpc>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Physical addressing</a:t>
            </a:r>
          </a:p>
          <a:p>
            <a:pPr marL="342900" indent="-342900" algn="just">
              <a:lnSpc>
                <a:spcPct val="200000"/>
              </a:lnSpc>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Flow control</a:t>
            </a:r>
          </a:p>
          <a:p>
            <a:pPr marL="342900" indent="-342900" algn="just">
              <a:lnSpc>
                <a:spcPct val="200000"/>
              </a:lnSpc>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Error control</a:t>
            </a:r>
          </a:p>
          <a:p>
            <a:pPr marL="342900" indent="-342900" algn="just">
              <a:lnSpc>
                <a:spcPct val="200000"/>
              </a:lnSpc>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Access control</a:t>
            </a:r>
          </a:p>
        </p:txBody>
      </p:sp>
      <p:sp>
        <p:nvSpPr>
          <p:cNvPr id="12" name="TextBox 11">
            <a:extLst>
              <a:ext uri="{FF2B5EF4-FFF2-40B4-BE49-F238E27FC236}">
                <a16:creationId xmlns:a16="http://schemas.microsoft.com/office/drawing/2014/main" id="{70DE7109-36B5-4A94-82D4-7366CD3493EF}"/>
              </a:ext>
            </a:extLst>
          </p:cNvPr>
          <p:cNvSpPr txBox="1"/>
          <p:nvPr/>
        </p:nvSpPr>
        <p:spPr>
          <a:xfrm>
            <a:off x="561974" y="498615"/>
            <a:ext cx="2000833"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Link Layer</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97728BB0-6C80-4B98-8BD8-D3CC839B9519}"/>
              </a:ext>
            </a:extLst>
          </p:cNvPr>
          <p:cNvSpPr txBox="1"/>
          <p:nvPr/>
        </p:nvSpPr>
        <p:spPr>
          <a:xfrm>
            <a:off x="2647952" y="5797034"/>
            <a:ext cx="7267575" cy="523220"/>
          </a:xfrm>
          <a:prstGeom prst="rect">
            <a:avLst/>
          </a:prstGeom>
          <a:noFill/>
        </p:spPr>
        <p:txBody>
          <a:bodyPr wrap="square">
            <a:spAutoFit/>
          </a:bodyPr>
          <a:lstStyle/>
          <a:p>
            <a:r>
              <a:rPr lang="en-US" sz="2800" b="1" i="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Switch &amp; Bridge are Data Link Layer devices.</a:t>
            </a:r>
            <a:endParaRPr lang="en-IN"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8874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0DE7109-36B5-4A94-82D4-7366CD3493EF}"/>
              </a:ext>
            </a:extLst>
          </p:cNvPr>
          <p:cNvSpPr txBox="1"/>
          <p:nvPr/>
        </p:nvSpPr>
        <p:spPr>
          <a:xfrm>
            <a:off x="626608" y="632055"/>
            <a:ext cx="4276727"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Link Layer (Hop-to-Hop delivery)</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14" name="Picture 10">
            <a:extLst>
              <a:ext uri="{FF2B5EF4-FFF2-40B4-BE49-F238E27FC236}">
                <a16:creationId xmlns:a16="http://schemas.microsoft.com/office/drawing/2014/main" id="{247F1FC8-1B04-4D36-8B12-190876AD1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5399" y="1109147"/>
            <a:ext cx="8273957" cy="515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00409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0DE7109-36B5-4A94-82D4-7366CD3493EF}"/>
              </a:ext>
            </a:extLst>
          </p:cNvPr>
          <p:cNvSpPr txBox="1"/>
          <p:nvPr/>
        </p:nvSpPr>
        <p:spPr>
          <a:xfrm>
            <a:off x="561972" y="579098"/>
            <a:ext cx="2955668"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Link Layer (</a:t>
            </a:r>
            <a:r>
              <a:rPr lang="en-US"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79EB61F-C32D-4941-8D76-F5FD85DCF2BE}"/>
              </a:ext>
            </a:extLst>
          </p:cNvPr>
          <p:cNvSpPr txBox="1"/>
          <p:nvPr/>
        </p:nvSpPr>
        <p:spPr>
          <a:xfrm>
            <a:off x="581121" y="1028915"/>
            <a:ext cx="11231921" cy="1200329"/>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In the given Fig. a node with physical address 10 sends a frame to a node with physical address 87. The two nodes are connected by a link. At the data link level this frame contains physical addresses in the header. These are the only addresses needed. The rest of the header contains other information needed at this level. The trailer usually contains extra bits needed for error detection.</a:t>
            </a:r>
            <a:endParaRPr lang="en-IN" dirty="0">
              <a:latin typeface="Times New Roman" panose="02020603050405020304" pitchFamily="18" charset="0"/>
              <a:cs typeface="Times New Roman" panose="02020603050405020304" pitchFamily="18" charset="0"/>
            </a:endParaRPr>
          </a:p>
        </p:txBody>
      </p:sp>
      <p:pic>
        <p:nvPicPr>
          <p:cNvPr id="8" name="Picture 10">
            <a:extLst>
              <a:ext uri="{FF2B5EF4-FFF2-40B4-BE49-F238E27FC236}">
                <a16:creationId xmlns:a16="http://schemas.microsoft.com/office/drawing/2014/main" id="{D5936CCC-FF64-499D-B968-3E77BE055D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4352" y="2598577"/>
            <a:ext cx="9043296" cy="351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1532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0DE7109-36B5-4A94-82D4-7366CD3493EF}"/>
              </a:ext>
            </a:extLst>
          </p:cNvPr>
          <p:cNvSpPr txBox="1"/>
          <p:nvPr/>
        </p:nvSpPr>
        <p:spPr>
          <a:xfrm>
            <a:off x="626608" y="632055"/>
            <a:ext cx="1887993"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Network Layer </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9BFAD88-CC96-4BDC-B161-C8F7E8694EB3}"/>
              </a:ext>
            </a:extLst>
          </p:cNvPr>
          <p:cNvSpPr txBox="1"/>
          <p:nvPr/>
        </p:nvSpPr>
        <p:spPr>
          <a:xfrm>
            <a:off x="626607" y="1208231"/>
            <a:ext cx="5792854" cy="2031325"/>
          </a:xfrm>
          <a:prstGeom prst="rect">
            <a:avLst/>
          </a:prstGeom>
          <a:noFill/>
        </p:spPr>
        <p:txBody>
          <a:bodyPr wrap="square">
            <a:spAutoFit/>
          </a:bodyPr>
          <a:lstStyle/>
          <a:p>
            <a:pPr marL="342900" indent="-342900" algn="just">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Network layer works for the transmission of data from one host to the other located in different networks. </a:t>
            </a:r>
          </a:p>
          <a:p>
            <a:pPr marL="342900" indent="-342900" algn="just">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It also takes care of packet routing i.e. selection of the shortest path to transmit the packet, from the number of routes available. </a:t>
            </a:r>
          </a:p>
          <a:p>
            <a:pPr marL="342900" indent="-342900" algn="just">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The sender &amp; receiver’s IP address are placed in the header by the network layer.</a:t>
            </a:r>
            <a:endParaRPr lang="en-IN" dirty="0">
              <a:latin typeface="Times New Roman" panose="02020603050405020304" pitchFamily="18" charset="0"/>
              <a:cs typeface="Times New Roman" panose="02020603050405020304" pitchFamily="18" charset="0"/>
            </a:endParaRPr>
          </a:p>
        </p:txBody>
      </p:sp>
      <p:pic>
        <p:nvPicPr>
          <p:cNvPr id="6" name="Picture 10">
            <a:extLst>
              <a:ext uri="{FF2B5EF4-FFF2-40B4-BE49-F238E27FC236}">
                <a16:creationId xmlns:a16="http://schemas.microsoft.com/office/drawing/2014/main" id="{4C6E2FB2-6F8E-4CFA-A8B9-75C92EBE12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0891" y="3300340"/>
            <a:ext cx="8170262" cy="2648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D630EE89-D0EA-4355-91A0-D1CF2EB1E420}"/>
              </a:ext>
            </a:extLst>
          </p:cNvPr>
          <p:cNvSpPr txBox="1"/>
          <p:nvPr/>
        </p:nvSpPr>
        <p:spPr>
          <a:xfrm>
            <a:off x="1031421" y="6041279"/>
            <a:ext cx="10715820" cy="369332"/>
          </a:xfrm>
          <a:prstGeom prst="rect">
            <a:avLst/>
          </a:prstGeom>
          <a:noFill/>
        </p:spPr>
        <p:txBody>
          <a:bodyPr wrap="square">
            <a:spAutoFit/>
          </a:bodyPr>
          <a:lstStyle/>
          <a:p>
            <a:r>
              <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network layer is responsible for the delivery of packets from the original source to the final destination. </a:t>
            </a:r>
            <a:endParaRPr lang="en-IN"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quot;Not Allowed&quot; Symbol 8">
            <a:extLst>
              <a:ext uri="{FF2B5EF4-FFF2-40B4-BE49-F238E27FC236}">
                <a16:creationId xmlns:a16="http://schemas.microsoft.com/office/drawing/2014/main" id="{6FC74717-FA1E-49C5-A624-E9D9946842C2}"/>
              </a:ext>
            </a:extLst>
          </p:cNvPr>
          <p:cNvSpPr/>
          <p:nvPr/>
        </p:nvSpPr>
        <p:spPr>
          <a:xfrm>
            <a:off x="-1206956" y="5935493"/>
            <a:ext cx="619125" cy="580907"/>
          </a:xfrm>
          <a:prstGeom prst="noSmoking">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dirty="0">
              <a:solidFill>
                <a:schemeClr val="tx1"/>
              </a:solidFill>
            </a:endParaRPr>
          </a:p>
        </p:txBody>
      </p:sp>
      <p:pic>
        <p:nvPicPr>
          <p:cNvPr id="10" name="Picture 9">
            <a:extLst>
              <a:ext uri="{FF2B5EF4-FFF2-40B4-BE49-F238E27FC236}">
                <a16:creationId xmlns:a16="http://schemas.microsoft.com/office/drawing/2014/main" id="{965CD192-FAD5-4949-B6A0-E7722FEBEF33}"/>
              </a:ext>
            </a:extLst>
          </p:cNvPr>
          <p:cNvPicPr>
            <a:picLocks noChangeAspect="1"/>
          </p:cNvPicPr>
          <p:nvPr/>
        </p:nvPicPr>
        <p:blipFill>
          <a:blip r:embed="rId3"/>
          <a:stretch>
            <a:fillRect/>
          </a:stretch>
        </p:blipFill>
        <p:spPr>
          <a:xfrm>
            <a:off x="7801833" y="632055"/>
            <a:ext cx="4113358" cy="2209340"/>
          </a:xfrm>
          <a:prstGeom prst="rect">
            <a:avLst/>
          </a:prstGeom>
        </p:spPr>
      </p:pic>
    </p:spTree>
    <p:extLst>
      <p:ext uri="{BB962C8B-B14F-4D97-AF65-F5344CB8AC3E}">
        <p14:creationId xmlns:p14="http://schemas.microsoft.com/office/powerpoint/2010/main" val="4175885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0DE7109-36B5-4A94-82D4-7366CD3493EF}"/>
              </a:ext>
            </a:extLst>
          </p:cNvPr>
          <p:cNvSpPr txBox="1"/>
          <p:nvPr/>
        </p:nvSpPr>
        <p:spPr>
          <a:xfrm>
            <a:off x="626608" y="632055"/>
            <a:ext cx="1887993"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Network Layer </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F768574C-DC4B-46B9-B1E1-EF44A7402CC3}"/>
              </a:ext>
            </a:extLst>
          </p:cNvPr>
          <p:cNvSpPr txBox="1"/>
          <p:nvPr/>
        </p:nvSpPr>
        <p:spPr>
          <a:xfrm>
            <a:off x="626607" y="1088965"/>
            <a:ext cx="6097554" cy="2031325"/>
          </a:xfrm>
          <a:prstGeom prst="rect">
            <a:avLst/>
          </a:prstGeom>
          <a:noFill/>
        </p:spPr>
        <p:txBody>
          <a:bodyPr wrap="square">
            <a:spAutoFit/>
          </a:bodyPr>
          <a:lstStyle/>
          <a:p>
            <a:pPr algn="just"/>
            <a:r>
              <a:rPr lang="en-US" dirty="0">
                <a:solidFill>
                  <a:srgbClr val="27323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functions of the Network layer are:</a:t>
            </a:r>
          </a:p>
          <a:p>
            <a:pPr algn="just"/>
            <a:endParaRPr lang="en-US" dirty="0">
              <a:solidFill>
                <a:srgbClr val="27323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lnSpc>
                <a:spcPct val="200000"/>
              </a:lnSpc>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Logical Addressing </a:t>
            </a:r>
          </a:p>
          <a:p>
            <a:pPr marL="342900" indent="-342900" algn="just">
              <a:lnSpc>
                <a:spcPct val="200000"/>
              </a:lnSpc>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Routing</a:t>
            </a:r>
          </a:p>
          <a:p>
            <a:pPr algn="just"/>
            <a:endParaRPr lang="en-US" dirty="0">
              <a:solidFill>
                <a:srgbClr val="27323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407CABD-01FD-445C-ADA2-11F7B3984883}"/>
              </a:ext>
            </a:extLst>
          </p:cNvPr>
          <p:cNvSpPr txBox="1"/>
          <p:nvPr/>
        </p:nvSpPr>
        <p:spPr>
          <a:xfrm>
            <a:off x="921398" y="5690416"/>
            <a:ext cx="6097554" cy="646331"/>
          </a:xfrm>
          <a:prstGeom prst="rect">
            <a:avLst/>
          </a:prstGeom>
          <a:noFill/>
        </p:spPr>
        <p:txBody>
          <a:bodyPr wrap="square">
            <a:spAutoFit/>
          </a:bodyPr>
          <a:lstStyle/>
          <a:p>
            <a:r>
              <a:rPr lang="en-US" b="1" i="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Segment</a:t>
            </a:r>
            <a:r>
              <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in Network layer is referred as Packet.</a:t>
            </a:r>
            <a:br>
              <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en-IN"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7606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0DE7109-36B5-4A94-82D4-7366CD3493EF}"/>
              </a:ext>
            </a:extLst>
          </p:cNvPr>
          <p:cNvSpPr txBox="1"/>
          <p:nvPr/>
        </p:nvSpPr>
        <p:spPr>
          <a:xfrm>
            <a:off x="626607" y="632055"/>
            <a:ext cx="4990422"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Network Layer (</a:t>
            </a:r>
            <a:r>
              <a:rPr lang="en-US"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Source to destination delivery</a:t>
            </a:r>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6" name="Picture 10">
            <a:extLst>
              <a:ext uri="{FF2B5EF4-FFF2-40B4-BE49-F238E27FC236}">
                <a16:creationId xmlns:a16="http://schemas.microsoft.com/office/drawing/2014/main" id="{3F6852EC-6DAC-4894-8F64-85EADC1A02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2530" y="1318628"/>
            <a:ext cx="7586662"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0514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0DE7109-36B5-4A94-82D4-7366CD3493EF}"/>
              </a:ext>
            </a:extLst>
          </p:cNvPr>
          <p:cNvSpPr txBox="1"/>
          <p:nvPr/>
        </p:nvSpPr>
        <p:spPr>
          <a:xfrm>
            <a:off x="626607" y="632055"/>
            <a:ext cx="4990422"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Network Layer</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2E5F7D9-BD37-40DE-B363-B732B0955207}"/>
              </a:ext>
            </a:extLst>
          </p:cNvPr>
          <p:cNvSpPr txBox="1"/>
          <p:nvPr/>
        </p:nvSpPr>
        <p:spPr>
          <a:xfrm>
            <a:off x="626607" y="1256127"/>
            <a:ext cx="6138088" cy="2585323"/>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In Figure 2.11 we want to send data from a node with network address A and physical address 10, located on one LAN, to a node with a network address P and physical address 95, located on another LAN. Because the two devices are located on different networks, we cannot use physical addresses only; the physical addresses only have local jurisdiction. What we need here are universal addresses that can pass through the LAN boundaries. The network (logical) addresses have this characteristic. </a:t>
            </a:r>
            <a:endParaRPr lang="en-IN" dirty="0">
              <a:latin typeface="Times New Roman" panose="02020603050405020304" pitchFamily="18" charset="0"/>
              <a:cs typeface="Times New Roman" panose="02020603050405020304" pitchFamily="18" charset="0"/>
            </a:endParaRPr>
          </a:p>
        </p:txBody>
      </p:sp>
      <p:pic>
        <p:nvPicPr>
          <p:cNvPr id="8" name="Picture 10">
            <a:extLst>
              <a:ext uri="{FF2B5EF4-FFF2-40B4-BE49-F238E27FC236}">
                <a16:creationId xmlns:a16="http://schemas.microsoft.com/office/drawing/2014/main" id="{9CDF14A3-FB27-46FD-8D7C-E11A8BBDBC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7250" y="1001389"/>
            <a:ext cx="4418144" cy="5230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22866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0DE7109-36B5-4A94-82D4-7366CD3493EF}"/>
              </a:ext>
            </a:extLst>
          </p:cNvPr>
          <p:cNvSpPr txBox="1"/>
          <p:nvPr/>
        </p:nvSpPr>
        <p:spPr>
          <a:xfrm>
            <a:off x="626607" y="632055"/>
            <a:ext cx="4990422"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Transport Layer</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0EC455D-CA28-411D-B1A1-3D2E92F985B8}"/>
              </a:ext>
            </a:extLst>
          </p:cNvPr>
          <p:cNvSpPr txBox="1"/>
          <p:nvPr/>
        </p:nvSpPr>
        <p:spPr>
          <a:xfrm>
            <a:off x="626607" y="1134827"/>
            <a:ext cx="6539304" cy="2308324"/>
          </a:xfrm>
          <a:prstGeom prst="rect">
            <a:avLst/>
          </a:prstGeom>
          <a:noFill/>
        </p:spPr>
        <p:txBody>
          <a:bodyPr wrap="square">
            <a:spAutoFit/>
          </a:bodyPr>
          <a:lstStyle/>
          <a:p>
            <a:pPr marL="342900" indent="-342900" algn="just">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Transport layer provides services to application layer and takes services from network layer. </a:t>
            </a:r>
          </a:p>
          <a:p>
            <a:pPr marL="342900" indent="-342900" algn="just">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The data in the transport layer is referred to as </a:t>
            </a:r>
            <a:r>
              <a:rPr lang="en-US" i="1" dirty="0">
                <a:solidFill>
                  <a:srgbClr val="273239"/>
                </a:solidFill>
                <a:latin typeface="Times New Roman" panose="02020603050405020304" pitchFamily="18" charset="0"/>
                <a:cs typeface="Times New Roman" panose="02020603050405020304" pitchFamily="18" charset="0"/>
              </a:rPr>
              <a:t>Segments</a:t>
            </a:r>
            <a:r>
              <a:rPr lang="en-US" dirty="0">
                <a:solidFill>
                  <a:srgbClr val="273239"/>
                </a:solidFill>
                <a:latin typeface="Times New Roman" panose="02020603050405020304" pitchFamily="18" charset="0"/>
                <a:cs typeface="Times New Roman" panose="02020603050405020304" pitchFamily="18" charset="0"/>
              </a:rPr>
              <a:t>. </a:t>
            </a:r>
          </a:p>
          <a:p>
            <a:pPr marL="342900" indent="-342900" algn="just">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It is responsible for the End to End Delivery of the complete message. </a:t>
            </a:r>
          </a:p>
          <a:p>
            <a:pPr marL="342900" indent="-342900" algn="just">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The transport layer also provides the acknowledgement of the successful data transmission and re-transmits the data if an error is found.</a:t>
            </a:r>
            <a:endParaRPr lang="en-IN" dirty="0">
              <a:latin typeface="Times New Roman" panose="02020603050405020304" pitchFamily="18" charset="0"/>
              <a:cs typeface="Times New Roman" panose="02020603050405020304" pitchFamily="18" charset="0"/>
            </a:endParaRPr>
          </a:p>
        </p:txBody>
      </p:sp>
      <p:pic>
        <p:nvPicPr>
          <p:cNvPr id="10" name="Picture 10">
            <a:extLst>
              <a:ext uri="{FF2B5EF4-FFF2-40B4-BE49-F238E27FC236}">
                <a16:creationId xmlns:a16="http://schemas.microsoft.com/office/drawing/2014/main" id="{0FD3BF2A-C8CE-411F-80E9-06B300A285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6542" y="3310251"/>
            <a:ext cx="7045572" cy="2295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F0C30BE4-0A78-494B-A425-DA1E7451BDA8}"/>
              </a:ext>
            </a:extLst>
          </p:cNvPr>
          <p:cNvSpPr txBox="1"/>
          <p:nvPr/>
        </p:nvSpPr>
        <p:spPr>
          <a:xfrm>
            <a:off x="1091682" y="6136044"/>
            <a:ext cx="8778916" cy="369332"/>
          </a:xfrm>
          <a:prstGeom prst="rect">
            <a:avLst/>
          </a:prstGeom>
          <a:noFill/>
        </p:spPr>
        <p:txBody>
          <a:bodyPr wrap="square">
            <a:spAutoFit/>
          </a:bodyPr>
          <a:lstStyle/>
          <a:p>
            <a:pPr algn="ctr">
              <a:spcBef>
                <a:spcPts val="1200"/>
              </a:spcBef>
              <a:spcAft>
                <a:spcPts val="1000"/>
              </a:spcAft>
            </a:pPr>
            <a:r>
              <a:rPr lang="en-US" altLang="en-US" b="1" dirty="0">
                <a:solidFill>
                  <a:srgbClr val="FF0000"/>
                </a:solidFill>
                <a:effectLst>
                  <a:outerShdw blurRad="38100" dist="38100" dir="2700000" algn="tl">
                    <a:srgbClr val="000000">
                      <a:alpha val="43137"/>
                    </a:srgbClr>
                  </a:outerShdw>
                </a:effectLst>
                <a:latin typeface="Times New Roman" panose="02020603050405020304" pitchFamily="18" charset="0"/>
              </a:rPr>
              <a:t>The transport layer is responsible for delivery of a message from one process to another.</a:t>
            </a:r>
          </a:p>
        </p:txBody>
      </p:sp>
      <p:sp>
        <p:nvSpPr>
          <p:cNvPr id="13" name="&quot;Not Allowed&quot; Symbol 12">
            <a:extLst>
              <a:ext uri="{FF2B5EF4-FFF2-40B4-BE49-F238E27FC236}">
                <a16:creationId xmlns:a16="http://schemas.microsoft.com/office/drawing/2014/main" id="{3B0BAF2E-C0A1-4847-AC1A-1D2BF8AA9142}"/>
              </a:ext>
            </a:extLst>
          </p:cNvPr>
          <p:cNvSpPr/>
          <p:nvPr/>
        </p:nvSpPr>
        <p:spPr>
          <a:xfrm>
            <a:off x="-1051443" y="6030258"/>
            <a:ext cx="619125" cy="580907"/>
          </a:xfrm>
          <a:prstGeom prst="noSmoking">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dirty="0">
              <a:solidFill>
                <a:schemeClr val="tx1"/>
              </a:solidFill>
            </a:endParaRPr>
          </a:p>
        </p:txBody>
      </p:sp>
      <p:pic>
        <p:nvPicPr>
          <p:cNvPr id="14" name="Picture 13">
            <a:extLst>
              <a:ext uri="{FF2B5EF4-FFF2-40B4-BE49-F238E27FC236}">
                <a16:creationId xmlns:a16="http://schemas.microsoft.com/office/drawing/2014/main" id="{9B041154-EDA9-4364-9E7A-7A16B721E101}"/>
              </a:ext>
            </a:extLst>
          </p:cNvPr>
          <p:cNvPicPr>
            <a:picLocks noChangeAspect="1"/>
          </p:cNvPicPr>
          <p:nvPr/>
        </p:nvPicPr>
        <p:blipFill>
          <a:blip r:embed="rId3"/>
          <a:stretch>
            <a:fillRect/>
          </a:stretch>
        </p:blipFill>
        <p:spPr>
          <a:xfrm>
            <a:off x="7813919" y="689825"/>
            <a:ext cx="4113358" cy="2209340"/>
          </a:xfrm>
          <a:prstGeom prst="rect">
            <a:avLst/>
          </a:prstGeom>
        </p:spPr>
      </p:pic>
    </p:spTree>
    <p:extLst>
      <p:ext uri="{BB962C8B-B14F-4D97-AF65-F5344CB8AC3E}">
        <p14:creationId xmlns:p14="http://schemas.microsoft.com/office/powerpoint/2010/main" val="2033275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0DE7109-36B5-4A94-82D4-7366CD3493EF}"/>
              </a:ext>
            </a:extLst>
          </p:cNvPr>
          <p:cNvSpPr txBox="1"/>
          <p:nvPr/>
        </p:nvSpPr>
        <p:spPr>
          <a:xfrm>
            <a:off x="626607" y="632055"/>
            <a:ext cx="4990422"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Transport Layer</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0472BB2-51E4-4293-8312-D57EC59C3BCC}"/>
              </a:ext>
            </a:extLst>
          </p:cNvPr>
          <p:cNvSpPr txBox="1"/>
          <p:nvPr/>
        </p:nvSpPr>
        <p:spPr>
          <a:xfrm>
            <a:off x="626607" y="1200932"/>
            <a:ext cx="6097554" cy="3000821"/>
          </a:xfrm>
          <a:prstGeom prst="rect">
            <a:avLst/>
          </a:prstGeom>
          <a:noFill/>
        </p:spPr>
        <p:txBody>
          <a:bodyPr wrap="square">
            <a:spAutoFit/>
          </a:bodyPr>
          <a:lstStyle/>
          <a:p>
            <a:pPr algn="just"/>
            <a:r>
              <a:rPr lang="en-US" dirty="0">
                <a:solidFill>
                  <a:srgbClr val="27323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functions of the Transport layer are:</a:t>
            </a:r>
          </a:p>
          <a:p>
            <a:pPr algn="just"/>
            <a:endParaRPr lang="en-US" dirty="0">
              <a:solidFill>
                <a:srgbClr val="27323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Service-point addressing </a:t>
            </a:r>
          </a:p>
          <a:p>
            <a:pPr marL="342900" indent="-342900" algn="just">
              <a:lnSpc>
                <a:spcPct val="150000"/>
              </a:lnSpc>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Segmentation and Reassembly</a:t>
            </a:r>
          </a:p>
          <a:p>
            <a:pPr marL="342900" indent="-342900" algn="just">
              <a:lnSpc>
                <a:spcPct val="150000"/>
              </a:lnSpc>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Connection control</a:t>
            </a:r>
          </a:p>
          <a:p>
            <a:pPr marL="342900" indent="-342900" algn="just">
              <a:lnSpc>
                <a:spcPct val="150000"/>
              </a:lnSpc>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Flow control</a:t>
            </a:r>
          </a:p>
          <a:p>
            <a:pPr marL="342900" indent="-342900" algn="just">
              <a:lnSpc>
                <a:spcPct val="150000"/>
              </a:lnSpc>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Error control</a:t>
            </a:r>
          </a:p>
          <a:p>
            <a:pPr algn="just"/>
            <a:endParaRPr lang="en-US" dirty="0">
              <a:solidFill>
                <a:srgbClr val="27323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6161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0DE7109-36B5-4A94-82D4-7366CD3493EF}"/>
              </a:ext>
            </a:extLst>
          </p:cNvPr>
          <p:cNvSpPr txBox="1"/>
          <p:nvPr/>
        </p:nvSpPr>
        <p:spPr>
          <a:xfrm>
            <a:off x="626607" y="632055"/>
            <a:ext cx="7033826"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Transport Layer (</a:t>
            </a:r>
            <a:r>
              <a:rPr lang="en-US" altLang="en-US" b="1" u="sng" dirty="0">
                <a:effectLst>
                  <a:outerShdw blurRad="38100" dist="38100" dir="2700000" algn="tl">
                    <a:srgbClr val="000000">
                      <a:alpha val="43137"/>
                    </a:srgbClr>
                  </a:outerShdw>
                </a:effectLst>
                <a:latin typeface="Times New Roman" panose="02020603050405020304" pitchFamily="18" charset="0"/>
              </a:rPr>
              <a:t>Reliable process-to-process delivery of a message</a:t>
            </a:r>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8" name="Picture 10">
            <a:extLst>
              <a:ext uri="{FF2B5EF4-FFF2-40B4-BE49-F238E27FC236}">
                <a16:creationId xmlns:a16="http://schemas.microsoft.com/office/drawing/2014/main" id="{E9ED7E39-9FE3-4C4D-B87A-A2C4E0DCC9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4721" y="1962925"/>
            <a:ext cx="9462559" cy="3282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172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0DE7109-36B5-4A94-82D4-7366CD3493EF}"/>
              </a:ext>
            </a:extLst>
          </p:cNvPr>
          <p:cNvSpPr txBox="1"/>
          <p:nvPr/>
        </p:nvSpPr>
        <p:spPr>
          <a:xfrm>
            <a:off x="626607" y="632055"/>
            <a:ext cx="7033826"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Transport Layer</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5C6E395-E08C-49FB-83EB-B1C7E2FE1ADD}"/>
              </a:ext>
            </a:extLst>
          </p:cNvPr>
          <p:cNvSpPr txBox="1"/>
          <p:nvPr/>
        </p:nvSpPr>
        <p:spPr>
          <a:xfrm>
            <a:off x="626607" y="1134829"/>
            <a:ext cx="11092642" cy="1200329"/>
          </a:xfrm>
          <a:prstGeom prst="rect">
            <a:avLst/>
          </a:prstGeom>
          <a:noFill/>
        </p:spPr>
        <p:txBody>
          <a:bodyPr wrap="square">
            <a:spAutoFit/>
          </a:bodyPr>
          <a:lstStyle/>
          <a:p>
            <a:pPr algn="just" eaLnBrk="1" hangingPunct="1">
              <a:spcBef>
                <a:spcPct val="50000"/>
              </a:spcBef>
            </a:pPr>
            <a:r>
              <a:rPr lang="en-US" altLang="en-US" dirty="0">
                <a:latin typeface="Times New Roman" panose="02020603050405020304" pitchFamily="18" charset="0"/>
                <a:cs typeface="Times New Roman" panose="02020603050405020304" pitchFamily="18" charset="0"/>
              </a:rPr>
              <a:t>The Figure shows an example of transport layer communication. Data coming from the upper layers have port addresses j and k (j is the address of the sending process, and k is the address of the receiving process). Since the data size is larger than the network layer can handle, the data are split into two packets, each packet retaining the port addresses (j and k). Then in the network layer, network addresses (A and P) are added to each packet.</a:t>
            </a:r>
          </a:p>
        </p:txBody>
      </p:sp>
      <p:pic>
        <p:nvPicPr>
          <p:cNvPr id="7" name="Picture 10">
            <a:extLst>
              <a:ext uri="{FF2B5EF4-FFF2-40B4-BE49-F238E27FC236}">
                <a16:creationId xmlns:a16="http://schemas.microsoft.com/office/drawing/2014/main" id="{DE9D0AEB-8A89-4BA8-BE29-330259598D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0736" y="2468596"/>
            <a:ext cx="6950528" cy="4163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93529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0DE7109-36B5-4A94-82D4-7366CD3493EF}"/>
              </a:ext>
            </a:extLst>
          </p:cNvPr>
          <p:cNvSpPr txBox="1"/>
          <p:nvPr/>
        </p:nvSpPr>
        <p:spPr>
          <a:xfrm>
            <a:off x="626607" y="632055"/>
            <a:ext cx="7033826"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Session Layer</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34F5EF4-DC42-4915-A642-C867C942F847}"/>
              </a:ext>
            </a:extLst>
          </p:cNvPr>
          <p:cNvSpPr txBox="1"/>
          <p:nvPr/>
        </p:nvSpPr>
        <p:spPr>
          <a:xfrm>
            <a:off x="626607" y="1134829"/>
            <a:ext cx="6166080" cy="2031325"/>
          </a:xfrm>
          <a:prstGeom prst="rect">
            <a:avLst/>
          </a:prstGeom>
          <a:noFill/>
        </p:spPr>
        <p:txBody>
          <a:bodyPr wrap="square">
            <a:spAutoFit/>
          </a:bodyPr>
          <a:lstStyle/>
          <a:p>
            <a:pPr marL="342900" indent="-342900" algn="just">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The session layer is the </a:t>
            </a:r>
            <a:r>
              <a:rPr lang="en-US" b="1" dirty="0">
                <a:solidFill>
                  <a:srgbClr val="273239"/>
                </a:solidFill>
                <a:latin typeface="Times New Roman" panose="02020603050405020304" pitchFamily="18" charset="0"/>
                <a:cs typeface="Times New Roman" panose="02020603050405020304" pitchFamily="18" charset="0"/>
              </a:rPr>
              <a:t>fifth</a:t>
            </a:r>
            <a:r>
              <a:rPr lang="en-US" dirty="0">
                <a:solidFill>
                  <a:srgbClr val="273239"/>
                </a:solidFill>
                <a:latin typeface="Times New Roman" panose="02020603050405020304" pitchFamily="18" charset="0"/>
                <a:cs typeface="Times New Roman" panose="02020603050405020304" pitchFamily="18" charset="0"/>
              </a:rPr>
              <a:t> layer of the OSI model. </a:t>
            </a:r>
          </a:p>
          <a:p>
            <a:pPr marL="342900" indent="-342900" algn="just">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Based on the transport layer, session layer uses the services provided by the transport layer, enables applications to establish and maintain sessions and to synchronize sessions.</a:t>
            </a:r>
          </a:p>
          <a:p>
            <a:pPr marL="342900" indent="-342900">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This layer is responsible for establishment of connection, maintenance of sessions, authentication and also ensures security.</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01F19CB-A7CA-4690-A7DB-F057B9B5391D}"/>
              </a:ext>
            </a:extLst>
          </p:cNvPr>
          <p:cNvPicPr>
            <a:picLocks noChangeAspect="1"/>
          </p:cNvPicPr>
          <p:nvPr/>
        </p:nvPicPr>
        <p:blipFill>
          <a:blip r:embed="rId2"/>
          <a:stretch>
            <a:fillRect/>
          </a:stretch>
        </p:blipFill>
        <p:spPr>
          <a:xfrm>
            <a:off x="2102305" y="3166154"/>
            <a:ext cx="6071313" cy="3236815"/>
          </a:xfrm>
          <a:prstGeom prst="rect">
            <a:avLst/>
          </a:prstGeom>
        </p:spPr>
      </p:pic>
      <p:pic>
        <p:nvPicPr>
          <p:cNvPr id="10" name="Picture 9">
            <a:extLst>
              <a:ext uri="{FF2B5EF4-FFF2-40B4-BE49-F238E27FC236}">
                <a16:creationId xmlns:a16="http://schemas.microsoft.com/office/drawing/2014/main" id="{9D90C0AD-E0C1-4C5F-9A96-DB63CD525E70}"/>
              </a:ext>
            </a:extLst>
          </p:cNvPr>
          <p:cNvPicPr>
            <a:picLocks noChangeAspect="1"/>
          </p:cNvPicPr>
          <p:nvPr/>
        </p:nvPicPr>
        <p:blipFill>
          <a:blip r:embed="rId3"/>
          <a:stretch>
            <a:fillRect/>
          </a:stretch>
        </p:blipFill>
        <p:spPr>
          <a:xfrm>
            <a:off x="7813919" y="689825"/>
            <a:ext cx="4113358" cy="2209340"/>
          </a:xfrm>
          <a:prstGeom prst="rect">
            <a:avLst/>
          </a:prstGeom>
        </p:spPr>
      </p:pic>
    </p:spTree>
    <p:extLst>
      <p:ext uri="{BB962C8B-B14F-4D97-AF65-F5344CB8AC3E}">
        <p14:creationId xmlns:p14="http://schemas.microsoft.com/office/powerpoint/2010/main" val="1495835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0DE7109-36B5-4A94-82D4-7366CD3493EF}"/>
              </a:ext>
            </a:extLst>
          </p:cNvPr>
          <p:cNvSpPr txBox="1"/>
          <p:nvPr/>
        </p:nvSpPr>
        <p:spPr>
          <a:xfrm>
            <a:off x="626607" y="632055"/>
            <a:ext cx="7033826"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Session Layer</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0C8532F-4AAA-41D2-9BC9-1B7945FAA453}"/>
              </a:ext>
            </a:extLst>
          </p:cNvPr>
          <p:cNvSpPr txBox="1"/>
          <p:nvPr/>
        </p:nvSpPr>
        <p:spPr>
          <a:xfrm>
            <a:off x="626607" y="1134827"/>
            <a:ext cx="6097554" cy="1669944"/>
          </a:xfrm>
          <a:prstGeom prst="rect">
            <a:avLst/>
          </a:prstGeom>
          <a:noFill/>
        </p:spPr>
        <p:txBody>
          <a:bodyPr wrap="square">
            <a:spAutoFit/>
          </a:bodyPr>
          <a:lstStyle/>
          <a:p>
            <a:r>
              <a:rPr lang="en-US" dirty="0">
                <a:solidFill>
                  <a:srgbClr val="27323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functions of the session layer are:</a:t>
            </a:r>
          </a:p>
          <a:p>
            <a:endParaRPr lang="en-US" dirty="0">
              <a:solidFill>
                <a:srgbClr val="27323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nSpc>
                <a:spcPct val="200000"/>
              </a:lnSpc>
              <a:buFont typeface="+mj-lt"/>
              <a:buAutoNum type="arabicPeriod"/>
            </a:pPr>
            <a:r>
              <a:rPr lang="en-IN" dirty="0">
                <a:latin typeface="Times New Roman" panose="02020603050405020304" pitchFamily="18" charset="0"/>
                <a:cs typeface="Times New Roman" panose="02020603050405020304" pitchFamily="18" charset="0"/>
              </a:rPr>
              <a:t>Dialog Controller </a:t>
            </a:r>
          </a:p>
          <a:p>
            <a:pPr marL="342900" indent="-342900">
              <a:lnSpc>
                <a:spcPct val="200000"/>
              </a:lnSpc>
              <a:buFont typeface="+mj-lt"/>
              <a:buAutoNum type="arabicPeriod"/>
            </a:pPr>
            <a:r>
              <a:rPr lang="en-IN" dirty="0">
                <a:latin typeface="Times New Roman" panose="02020603050405020304" pitchFamily="18" charset="0"/>
                <a:cs typeface="Times New Roman" panose="02020603050405020304" pitchFamily="18" charset="0"/>
              </a:rPr>
              <a:t>Synchronization</a:t>
            </a:r>
          </a:p>
        </p:txBody>
      </p:sp>
    </p:spTree>
    <p:extLst>
      <p:ext uri="{BB962C8B-B14F-4D97-AF65-F5344CB8AC3E}">
        <p14:creationId xmlns:p14="http://schemas.microsoft.com/office/powerpoint/2010/main" val="278874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0DE7109-36B5-4A94-82D4-7366CD3493EF}"/>
              </a:ext>
            </a:extLst>
          </p:cNvPr>
          <p:cNvSpPr txBox="1"/>
          <p:nvPr/>
        </p:nvSpPr>
        <p:spPr>
          <a:xfrm>
            <a:off x="626607" y="632055"/>
            <a:ext cx="7033826"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Presentation Layer</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AABFDAC-F02E-4B92-92E3-4206198C8CF3}"/>
              </a:ext>
            </a:extLst>
          </p:cNvPr>
          <p:cNvSpPr txBox="1"/>
          <p:nvPr/>
        </p:nvSpPr>
        <p:spPr>
          <a:xfrm>
            <a:off x="628063" y="1134827"/>
            <a:ext cx="7032371" cy="1477328"/>
          </a:xfrm>
          <a:prstGeom prst="rect">
            <a:avLst/>
          </a:prstGeom>
          <a:noFill/>
        </p:spPr>
        <p:txBody>
          <a:bodyPr wrap="square">
            <a:spAutoFit/>
          </a:bodyPr>
          <a:lstStyle/>
          <a:p>
            <a:pPr marL="342900" indent="-342900">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Presentation layer is also called the </a:t>
            </a:r>
            <a:r>
              <a:rPr lang="en-US" b="1" dirty="0">
                <a:solidFill>
                  <a:srgbClr val="273239"/>
                </a:solidFill>
                <a:latin typeface="Times New Roman" panose="02020603050405020304" pitchFamily="18" charset="0"/>
                <a:cs typeface="Times New Roman" panose="02020603050405020304" pitchFamily="18" charset="0"/>
              </a:rPr>
              <a:t>Translation layer</a:t>
            </a:r>
            <a:r>
              <a:rPr lang="en-US" dirty="0">
                <a:solidFill>
                  <a:srgbClr val="273239"/>
                </a:solidFill>
                <a:latin typeface="Times New Roman" panose="02020603050405020304" pitchFamily="18" charset="0"/>
                <a:cs typeface="Times New Roman" panose="02020603050405020304" pitchFamily="18" charset="0"/>
              </a:rPr>
              <a:t>. </a:t>
            </a:r>
          </a:p>
          <a:p>
            <a:pPr marL="342900" indent="-342900">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The data from the application layer is extracted here and manipulated as per the required format to transmit over the network.</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The main function of this layer is to define the </a:t>
            </a:r>
            <a:r>
              <a:rPr lang="en-US" b="1" dirty="0">
                <a:latin typeface="Times New Roman" panose="02020603050405020304" pitchFamily="18" charset="0"/>
                <a:cs typeface="Times New Roman" panose="02020603050405020304" pitchFamily="18" charset="0"/>
              </a:rPr>
              <a:t>data format and encryption.</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544F74A-010D-46F0-936D-AF789A3DA9EF}"/>
              </a:ext>
            </a:extLst>
          </p:cNvPr>
          <p:cNvPicPr>
            <a:picLocks noChangeAspect="1"/>
          </p:cNvPicPr>
          <p:nvPr/>
        </p:nvPicPr>
        <p:blipFill>
          <a:blip r:embed="rId2"/>
          <a:stretch>
            <a:fillRect/>
          </a:stretch>
        </p:blipFill>
        <p:spPr>
          <a:xfrm>
            <a:off x="933063" y="3049811"/>
            <a:ext cx="9189265" cy="2342236"/>
          </a:xfrm>
          <a:prstGeom prst="rect">
            <a:avLst/>
          </a:prstGeom>
        </p:spPr>
      </p:pic>
      <p:sp>
        <p:nvSpPr>
          <p:cNvPr id="8" name="TextBox 7">
            <a:extLst>
              <a:ext uri="{FF2B5EF4-FFF2-40B4-BE49-F238E27FC236}">
                <a16:creationId xmlns:a16="http://schemas.microsoft.com/office/drawing/2014/main" id="{711FAAFF-8407-4997-81A1-79674A78D8BC}"/>
              </a:ext>
            </a:extLst>
          </p:cNvPr>
          <p:cNvSpPr txBox="1"/>
          <p:nvPr/>
        </p:nvSpPr>
        <p:spPr>
          <a:xfrm>
            <a:off x="1219200" y="6041279"/>
            <a:ext cx="9955763" cy="369332"/>
          </a:xfrm>
          <a:prstGeom prst="rect">
            <a:avLst/>
          </a:prstGeom>
          <a:noFill/>
        </p:spPr>
        <p:txBody>
          <a:bodyPr wrap="square" rtlCol="0">
            <a:spAutoFit/>
          </a:bodyPr>
          <a:lstStyle/>
          <a:p>
            <a:r>
              <a:rPr lang="en-IN"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presentation layer is responsible for translation, compression and encryption.</a:t>
            </a:r>
          </a:p>
        </p:txBody>
      </p:sp>
      <p:sp>
        <p:nvSpPr>
          <p:cNvPr id="10" name="&quot;Not Allowed&quot; Symbol 9">
            <a:extLst>
              <a:ext uri="{FF2B5EF4-FFF2-40B4-BE49-F238E27FC236}">
                <a16:creationId xmlns:a16="http://schemas.microsoft.com/office/drawing/2014/main" id="{97382AB8-11FB-4C9C-921C-3DB6382FF8BC}"/>
              </a:ext>
            </a:extLst>
          </p:cNvPr>
          <p:cNvSpPr/>
          <p:nvPr/>
        </p:nvSpPr>
        <p:spPr>
          <a:xfrm>
            <a:off x="-1126087" y="5935493"/>
            <a:ext cx="619125" cy="580907"/>
          </a:xfrm>
          <a:prstGeom prst="noSmoking">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dirty="0">
              <a:solidFill>
                <a:schemeClr val="tx1"/>
              </a:solidFill>
            </a:endParaRPr>
          </a:p>
        </p:txBody>
      </p:sp>
      <p:pic>
        <p:nvPicPr>
          <p:cNvPr id="11" name="Picture 10">
            <a:extLst>
              <a:ext uri="{FF2B5EF4-FFF2-40B4-BE49-F238E27FC236}">
                <a16:creationId xmlns:a16="http://schemas.microsoft.com/office/drawing/2014/main" id="{071A6FE2-CBFB-43B9-883F-3D35E8A3A1D1}"/>
              </a:ext>
            </a:extLst>
          </p:cNvPr>
          <p:cNvPicPr>
            <a:picLocks noChangeAspect="1"/>
          </p:cNvPicPr>
          <p:nvPr/>
        </p:nvPicPr>
        <p:blipFill>
          <a:blip r:embed="rId3"/>
          <a:stretch>
            <a:fillRect/>
          </a:stretch>
        </p:blipFill>
        <p:spPr>
          <a:xfrm>
            <a:off x="7813919" y="689825"/>
            <a:ext cx="4113358" cy="2209340"/>
          </a:xfrm>
          <a:prstGeom prst="rect">
            <a:avLst/>
          </a:prstGeom>
        </p:spPr>
      </p:pic>
    </p:spTree>
    <p:extLst>
      <p:ext uri="{BB962C8B-B14F-4D97-AF65-F5344CB8AC3E}">
        <p14:creationId xmlns:p14="http://schemas.microsoft.com/office/powerpoint/2010/main" val="473613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0DE7109-36B5-4A94-82D4-7366CD3493EF}"/>
              </a:ext>
            </a:extLst>
          </p:cNvPr>
          <p:cNvSpPr txBox="1"/>
          <p:nvPr/>
        </p:nvSpPr>
        <p:spPr>
          <a:xfrm>
            <a:off x="626607" y="632055"/>
            <a:ext cx="7033826"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Presentation Layer</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9A0374E-C218-427F-A699-99F090E33F39}"/>
              </a:ext>
            </a:extLst>
          </p:cNvPr>
          <p:cNvSpPr txBox="1"/>
          <p:nvPr/>
        </p:nvSpPr>
        <p:spPr>
          <a:xfrm>
            <a:off x="626607" y="1134827"/>
            <a:ext cx="6097554" cy="2223942"/>
          </a:xfrm>
          <a:prstGeom prst="rect">
            <a:avLst/>
          </a:prstGeom>
          <a:noFill/>
        </p:spPr>
        <p:txBody>
          <a:bodyPr wrap="square">
            <a:spAutoFit/>
          </a:bodyPr>
          <a:lstStyle/>
          <a:p>
            <a:r>
              <a:rPr lang="en-US" dirty="0">
                <a:solidFill>
                  <a:srgbClr val="27323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functions of the presentation layer are:</a:t>
            </a:r>
          </a:p>
          <a:p>
            <a:endParaRPr lang="en-US" dirty="0">
              <a:solidFill>
                <a:srgbClr val="27323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nSpc>
                <a:spcPct val="200000"/>
              </a:lnSpc>
              <a:buFont typeface="+mj-lt"/>
              <a:buAutoNum type="arabicPeriod"/>
            </a:pPr>
            <a:r>
              <a:rPr lang="en-IN" dirty="0">
                <a:latin typeface="Times New Roman" panose="02020603050405020304" pitchFamily="18" charset="0"/>
                <a:cs typeface="Times New Roman" panose="02020603050405020304" pitchFamily="18" charset="0"/>
              </a:rPr>
              <a:t>Translation</a:t>
            </a:r>
          </a:p>
          <a:p>
            <a:pPr marL="342900" indent="-342900">
              <a:lnSpc>
                <a:spcPct val="200000"/>
              </a:lnSpc>
              <a:buFont typeface="+mj-lt"/>
              <a:buAutoNum type="arabicPeriod"/>
            </a:pPr>
            <a:r>
              <a:rPr lang="en-IN" dirty="0">
                <a:latin typeface="Times New Roman" panose="02020603050405020304" pitchFamily="18" charset="0"/>
                <a:cs typeface="Times New Roman" panose="02020603050405020304" pitchFamily="18" charset="0"/>
              </a:rPr>
              <a:t>Encryption</a:t>
            </a:r>
          </a:p>
          <a:p>
            <a:pPr marL="342900" indent="-342900">
              <a:lnSpc>
                <a:spcPct val="200000"/>
              </a:lnSpc>
              <a:buFont typeface="+mj-lt"/>
              <a:buAutoNum type="arabicPeriod"/>
            </a:pPr>
            <a:r>
              <a:rPr lang="en-IN" dirty="0">
                <a:latin typeface="Times New Roman" panose="02020603050405020304" pitchFamily="18" charset="0"/>
                <a:cs typeface="Times New Roman" panose="02020603050405020304" pitchFamily="18" charset="0"/>
              </a:rPr>
              <a:t>Compression</a:t>
            </a:r>
          </a:p>
        </p:txBody>
      </p:sp>
    </p:spTree>
    <p:extLst>
      <p:ext uri="{BB962C8B-B14F-4D97-AF65-F5344CB8AC3E}">
        <p14:creationId xmlns:p14="http://schemas.microsoft.com/office/powerpoint/2010/main" val="1469567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0DE7109-36B5-4A94-82D4-7366CD3493EF}"/>
              </a:ext>
            </a:extLst>
          </p:cNvPr>
          <p:cNvSpPr txBox="1"/>
          <p:nvPr/>
        </p:nvSpPr>
        <p:spPr>
          <a:xfrm>
            <a:off x="626607" y="632055"/>
            <a:ext cx="7033826"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Application Layer</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8F934E6-A3E7-49C5-A59B-3EB3F26BA58B}"/>
              </a:ext>
            </a:extLst>
          </p:cNvPr>
          <p:cNvSpPr txBox="1"/>
          <p:nvPr/>
        </p:nvSpPr>
        <p:spPr>
          <a:xfrm>
            <a:off x="626607" y="1134827"/>
            <a:ext cx="6557964" cy="2308324"/>
          </a:xfrm>
          <a:prstGeom prst="rect">
            <a:avLst/>
          </a:prstGeom>
          <a:noFill/>
        </p:spPr>
        <p:txBody>
          <a:bodyPr wrap="square">
            <a:spAutoFit/>
          </a:bodyPr>
          <a:lstStyle/>
          <a:p>
            <a:pPr marL="342900" indent="-342900" algn="just">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At the very top of the OSI Reference Model stack of layers, we find Application layer which is implemented by the network applications. </a:t>
            </a:r>
          </a:p>
          <a:p>
            <a:pPr marL="342900" indent="-342900" algn="just">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These applications produce the data, which has to be transferred over the network. </a:t>
            </a:r>
          </a:p>
          <a:p>
            <a:pPr marL="342900" indent="-342900" algn="just">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This layer also serves as a window for the application services to access the network and for displaying the received information to the user.</a:t>
            </a:r>
            <a:endParaRPr lang="en-IN" dirty="0">
              <a:latin typeface="Times New Roman" panose="02020603050405020304" pitchFamily="18" charset="0"/>
              <a:cs typeface="Times New Roman" panose="02020603050405020304" pitchFamily="18" charset="0"/>
            </a:endParaRPr>
          </a:p>
        </p:txBody>
      </p:sp>
      <p:pic>
        <p:nvPicPr>
          <p:cNvPr id="7" name="Picture 10">
            <a:extLst>
              <a:ext uri="{FF2B5EF4-FFF2-40B4-BE49-F238E27FC236}">
                <a16:creationId xmlns:a16="http://schemas.microsoft.com/office/drawing/2014/main" id="{34057F8C-58BE-4DF9-8C79-652AC1FC58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6407" y="3334121"/>
            <a:ext cx="8019189" cy="251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A72EB0E4-AEBB-4EF6-88DF-435B4E0C80E0}"/>
              </a:ext>
            </a:extLst>
          </p:cNvPr>
          <p:cNvSpPr txBox="1"/>
          <p:nvPr/>
        </p:nvSpPr>
        <p:spPr>
          <a:xfrm>
            <a:off x="912067" y="6038912"/>
            <a:ext cx="7065606" cy="369332"/>
          </a:xfrm>
          <a:prstGeom prst="rect">
            <a:avLst/>
          </a:prstGeom>
          <a:noFill/>
        </p:spPr>
        <p:txBody>
          <a:bodyPr wrap="square">
            <a:spAutoFit/>
          </a:bodyPr>
          <a:lstStyle/>
          <a:p>
            <a:pPr algn="ctr">
              <a:spcBef>
                <a:spcPts val="1200"/>
              </a:spcBef>
              <a:spcAft>
                <a:spcPts val="1000"/>
              </a:spcAft>
            </a:pPr>
            <a:r>
              <a:rPr lang="en-US" altLang="en-US" b="1" dirty="0">
                <a:solidFill>
                  <a:srgbClr val="FF0000"/>
                </a:solidFill>
                <a:effectLst>
                  <a:outerShdw blurRad="38100" dist="38100" dir="2700000" algn="tl">
                    <a:srgbClr val="000000">
                      <a:alpha val="43137"/>
                    </a:srgbClr>
                  </a:outerShdw>
                </a:effectLst>
                <a:latin typeface="Times New Roman" panose="02020603050405020304" pitchFamily="18" charset="0"/>
              </a:rPr>
              <a:t>The application layer is responsible for providing services to the user.</a:t>
            </a:r>
          </a:p>
        </p:txBody>
      </p:sp>
      <p:sp>
        <p:nvSpPr>
          <p:cNvPr id="11" name="&quot;Not Allowed&quot; Symbol 10">
            <a:extLst>
              <a:ext uri="{FF2B5EF4-FFF2-40B4-BE49-F238E27FC236}">
                <a16:creationId xmlns:a16="http://schemas.microsoft.com/office/drawing/2014/main" id="{E37EB916-5DB1-441E-9CF8-BB0B9AA4A9A7}"/>
              </a:ext>
            </a:extLst>
          </p:cNvPr>
          <p:cNvSpPr/>
          <p:nvPr/>
        </p:nvSpPr>
        <p:spPr>
          <a:xfrm>
            <a:off x="-1126087" y="5935493"/>
            <a:ext cx="619125" cy="580907"/>
          </a:xfrm>
          <a:prstGeom prst="noSmoking">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dirty="0">
              <a:solidFill>
                <a:schemeClr val="tx1"/>
              </a:solidFill>
            </a:endParaRPr>
          </a:p>
        </p:txBody>
      </p:sp>
      <p:pic>
        <p:nvPicPr>
          <p:cNvPr id="13" name="Picture 12">
            <a:extLst>
              <a:ext uri="{FF2B5EF4-FFF2-40B4-BE49-F238E27FC236}">
                <a16:creationId xmlns:a16="http://schemas.microsoft.com/office/drawing/2014/main" id="{4EF3666C-6675-4567-A27D-D7BAA8DDA6AA}"/>
              </a:ext>
            </a:extLst>
          </p:cNvPr>
          <p:cNvPicPr>
            <a:picLocks noChangeAspect="1"/>
          </p:cNvPicPr>
          <p:nvPr/>
        </p:nvPicPr>
        <p:blipFill>
          <a:blip r:embed="rId3"/>
          <a:stretch>
            <a:fillRect/>
          </a:stretch>
        </p:blipFill>
        <p:spPr>
          <a:xfrm>
            <a:off x="7813919" y="689825"/>
            <a:ext cx="4113358" cy="2209340"/>
          </a:xfrm>
          <a:prstGeom prst="rect">
            <a:avLst/>
          </a:prstGeom>
        </p:spPr>
      </p:pic>
    </p:spTree>
    <p:extLst>
      <p:ext uri="{BB962C8B-B14F-4D97-AF65-F5344CB8AC3E}">
        <p14:creationId xmlns:p14="http://schemas.microsoft.com/office/powerpoint/2010/main" val="4229580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0D8B0-DF48-438E-9286-56DCF1937DAB}"/>
              </a:ext>
            </a:extLst>
          </p:cNvPr>
          <p:cNvSpPr txBox="1"/>
          <p:nvPr/>
        </p:nvSpPr>
        <p:spPr>
          <a:xfrm>
            <a:off x="2764973" y="36952"/>
            <a:ext cx="6864221" cy="461665"/>
          </a:xfrm>
          <a:prstGeom prst="rect">
            <a:avLst/>
          </a:prstGeom>
          <a:noFill/>
        </p:spPr>
        <p:txBody>
          <a:bodyPr wrap="square" rtlCol="0">
            <a:spAutoFit/>
          </a:bodyPr>
          <a:lstStyle/>
          <a:p>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sz="2400" b="1" u="sng"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 Systems Interconnection </a:t>
            </a:r>
            <a:r>
              <a:rPr 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endParaRPr lang="en-IN" sz="24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0DE7109-36B5-4A94-82D4-7366CD3493EF}"/>
              </a:ext>
            </a:extLst>
          </p:cNvPr>
          <p:cNvSpPr txBox="1"/>
          <p:nvPr/>
        </p:nvSpPr>
        <p:spPr>
          <a:xfrm>
            <a:off x="626607" y="632055"/>
            <a:ext cx="7033826" cy="369332"/>
          </a:xfrm>
          <a:prstGeom prst="rect">
            <a:avLst/>
          </a:prstGeom>
          <a:noFill/>
        </p:spPr>
        <p:txBody>
          <a:bodyPr wrap="square" rtlCol="0">
            <a:spAutoFit/>
          </a:bodyPr>
          <a:lstStyle/>
          <a:p>
            <a:r>
              <a:rPr lang="en-US"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Application Layer</a:t>
            </a:r>
            <a:endParaRPr lang="en-IN" b="1" u="sng"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ED7A49A-2732-4274-8BD9-7B6791BDD390}"/>
              </a:ext>
            </a:extLst>
          </p:cNvPr>
          <p:cNvSpPr txBox="1"/>
          <p:nvPr/>
        </p:nvSpPr>
        <p:spPr>
          <a:xfrm>
            <a:off x="626607" y="1134829"/>
            <a:ext cx="6097554" cy="2258567"/>
          </a:xfrm>
          <a:prstGeom prst="rect">
            <a:avLst/>
          </a:prstGeom>
          <a:noFill/>
        </p:spPr>
        <p:txBody>
          <a:bodyPr wrap="square">
            <a:spAutoFit/>
          </a:bodyPr>
          <a:lstStyle/>
          <a:p>
            <a:r>
              <a:rPr lang="en-US" dirty="0">
                <a:solidFill>
                  <a:srgbClr val="27323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functions of the application layer are:</a:t>
            </a:r>
          </a:p>
          <a:p>
            <a:endParaRPr lang="en-US" dirty="0">
              <a:solidFill>
                <a:srgbClr val="273239"/>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Network virtual terminal</a:t>
            </a:r>
          </a:p>
          <a:p>
            <a:pPr marL="342900" indent="-342900">
              <a:lnSpc>
                <a:spcPct val="150000"/>
              </a:lnSpc>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File transfer, access and management</a:t>
            </a:r>
          </a:p>
          <a:p>
            <a:pPr marL="342900" indent="-342900">
              <a:lnSpc>
                <a:spcPct val="150000"/>
              </a:lnSpc>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Mail services</a:t>
            </a:r>
          </a:p>
          <a:p>
            <a:pPr marL="342900" indent="-342900">
              <a:lnSpc>
                <a:spcPct val="150000"/>
              </a:lnSpc>
              <a:buFont typeface="+mj-lt"/>
              <a:buAutoNum type="arabicPeriod"/>
            </a:pPr>
            <a:r>
              <a:rPr lang="en-US" dirty="0">
                <a:solidFill>
                  <a:srgbClr val="273239"/>
                </a:solidFill>
                <a:latin typeface="Times New Roman" panose="02020603050405020304" pitchFamily="18" charset="0"/>
                <a:cs typeface="Times New Roman" panose="02020603050405020304" pitchFamily="18" charset="0"/>
              </a:rPr>
              <a:t>Directory services</a:t>
            </a:r>
          </a:p>
        </p:txBody>
      </p:sp>
      <p:sp>
        <p:nvSpPr>
          <p:cNvPr id="13" name="TextBox 12">
            <a:extLst>
              <a:ext uri="{FF2B5EF4-FFF2-40B4-BE49-F238E27FC236}">
                <a16:creationId xmlns:a16="http://schemas.microsoft.com/office/drawing/2014/main" id="{8B9DB1F4-9763-44D4-9AC9-7D2F81FB9100}"/>
              </a:ext>
            </a:extLst>
          </p:cNvPr>
          <p:cNvSpPr txBox="1"/>
          <p:nvPr/>
        </p:nvSpPr>
        <p:spPr>
          <a:xfrm>
            <a:off x="886797" y="5400009"/>
            <a:ext cx="10620569" cy="646331"/>
          </a:xfrm>
          <a:prstGeom prst="rect">
            <a:avLst/>
          </a:prstGeom>
          <a:noFill/>
        </p:spPr>
        <p:txBody>
          <a:bodyPr wrap="square">
            <a:spAutoFit/>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OSI model </a:t>
            </a:r>
            <a:r>
              <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acts as a reference model and is not implemented in the Internet because of its late invention. Current model being used is the </a:t>
            </a: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TCP/IP model.</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allout: Down Arrow 2">
            <a:extLst>
              <a:ext uri="{FF2B5EF4-FFF2-40B4-BE49-F238E27FC236}">
                <a16:creationId xmlns:a16="http://schemas.microsoft.com/office/drawing/2014/main" id="{82136531-1C31-4DAE-A18B-2D0AC4BE594F}"/>
              </a:ext>
            </a:extLst>
          </p:cNvPr>
          <p:cNvSpPr/>
          <p:nvPr/>
        </p:nvSpPr>
        <p:spPr>
          <a:xfrm>
            <a:off x="962707" y="4320073"/>
            <a:ext cx="2286877" cy="1006370"/>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NOTE</a:t>
            </a:r>
          </a:p>
        </p:txBody>
      </p:sp>
    </p:spTree>
    <p:extLst>
      <p:ext uri="{BB962C8B-B14F-4D97-AF65-F5344CB8AC3E}">
        <p14:creationId xmlns:p14="http://schemas.microsoft.com/office/powerpoint/2010/main" val="2752748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1209</Words>
  <Application>Microsoft Office PowerPoint</Application>
  <PresentationFormat>Widescreen</PresentationFormat>
  <Paragraphs>119</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Ashish Tiwary</dc:creator>
  <cp:lastModifiedBy>Ashish Tiwary</cp:lastModifiedBy>
  <cp:revision>1</cp:revision>
  <dcterms:created xsi:type="dcterms:W3CDTF">2025-12-10T10:30:51Z</dcterms:created>
  <dcterms:modified xsi:type="dcterms:W3CDTF">2025-12-10T10:31:30Z</dcterms:modified>
</cp:coreProperties>
</file>